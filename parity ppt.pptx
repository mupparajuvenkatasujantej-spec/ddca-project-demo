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embeddedFontLst>
    <p:embeddedFont>
      <p:font typeface="Archivo Black" panose="020B0604020202020204" charset="0"/>
      <p:regular r:id="rId9"/>
      <p:bold r:id="rId10"/>
    </p:embeddedFont>
    <p:embeddedFont>
      <p:font typeface="Archivo Bold" panose="020B0604020202020204" charset="0"/>
      <p:regular r:id="rId11"/>
      <p:bold r:id="rId12"/>
    </p:embeddedFont>
    <p:embeddedFont>
      <p:font typeface="Atkinson Hyperlegible" panose="020B0604020202020204" charset="0"/>
      <p:regular r:id="rId13"/>
    </p:embeddedFont>
    <p:embeddedFont>
      <p:font typeface="Atkinson Hyperlegible Bold" panose="020B0604020202020204" charset="0"/>
      <p:regular r:id="rId14"/>
      <p:bold r:id="rId15"/>
    </p:embeddedFont>
    <p:embeddedFont>
      <p:font typeface="IBM Plex Mono SemiBold" panose="020B0709050203000203" pitchFamily="49" charset="0"/>
      <p:bold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font" Target="fonts/font7.fntdata"/><Relationship Id="rId10" Type="http://schemas.openxmlformats.org/officeDocument/2006/relationships/font" Target="fonts/font2.fntdata"/><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hasradhanalakoti58@outlook.com" userId="70ac696efc331d56" providerId="LiveId" clId="{8912D241-23FB-4AB0-BA64-29E9FA8E1D04}"/>
    <pc:docChg chg="custSel modSld">
      <pc:chgData name="sahasradhanalakoti58@outlook.com" userId="70ac696efc331d56" providerId="LiveId" clId="{8912D241-23FB-4AB0-BA64-29E9FA8E1D04}" dt="2026-10-15T03:46:44.649" v="7" actId="1076"/>
      <pc:docMkLst>
        <pc:docMk/>
      </pc:docMkLst>
      <pc:sldChg chg="modSp mod">
        <pc:chgData name="sahasradhanalakoti58@outlook.com" userId="70ac696efc331d56" providerId="LiveId" clId="{8912D241-23FB-4AB0-BA64-29E9FA8E1D04}" dt="2026-10-15T03:46:44.649" v="7" actId="1076"/>
        <pc:sldMkLst>
          <pc:docMk/>
          <pc:sldMk cId="0" sldId="256"/>
        </pc:sldMkLst>
        <pc:spChg chg="mod">
          <ac:chgData name="sahasradhanalakoti58@outlook.com" userId="70ac696efc331d56" providerId="LiveId" clId="{8912D241-23FB-4AB0-BA64-29E9FA8E1D04}" dt="2026-10-15T03:46:35.597" v="5" actId="1076"/>
          <ac:spMkLst>
            <pc:docMk/>
            <pc:sldMk cId="0" sldId="256"/>
            <ac:spMk id="2" creationId="{00000000-0000-0000-0000-000000000000}"/>
          </ac:spMkLst>
        </pc:spChg>
        <pc:spChg chg="mod">
          <ac:chgData name="sahasradhanalakoti58@outlook.com" userId="70ac696efc331d56" providerId="LiveId" clId="{8912D241-23FB-4AB0-BA64-29E9FA8E1D04}" dt="2026-10-15T03:46:44.649" v="7" actId="1076"/>
          <ac:spMkLst>
            <pc:docMk/>
            <pc:sldMk cId="0" sldId="256"/>
            <ac:spMk id="6" creationId="{00000000-0000-0000-0000-000000000000}"/>
          </ac:spMkLst>
        </pc:spChg>
      </pc:sldChg>
      <pc:sldChg chg="delSp modSp mod">
        <pc:chgData name="sahasradhanalakoti58@outlook.com" userId="70ac696efc331d56" providerId="LiveId" clId="{8912D241-23FB-4AB0-BA64-29E9FA8E1D04}" dt="2026-10-15T03:46:25.618" v="4" actId="20577"/>
        <pc:sldMkLst>
          <pc:docMk/>
          <pc:sldMk cId="0" sldId="259"/>
        </pc:sldMkLst>
        <pc:spChg chg="del">
          <ac:chgData name="sahasradhanalakoti58@outlook.com" userId="70ac696efc331d56" providerId="LiveId" clId="{8912D241-23FB-4AB0-BA64-29E9FA8E1D04}" dt="2026-10-15T03:46:15.548" v="1" actId="478"/>
          <ac:spMkLst>
            <pc:docMk/>
            <pc:sldMk cId="0" sldId="259"/>
            <ac:spMk id="23" creationId="{00000000-0000-0000-0000-000000000000}"/>
          </ac:spMkLst>
        </pc:spChg>
        <pc:spChg chg="mod">
          <ac:chgData name="sahasradhanalakoti58@outlook.com" userId="70ac696efc331d56" providerId="LiveId" clId="{8912D241-23FB-4AB0-BA64-29E9FA8E1D04}" dt="2026-10-15T03:46:25.618" v="4" actId="20577"/>
          <ac:spMkLst>
            <pc:docMk/>
            <pc:sldMk cId="0" sldId="259"/>
            <ac:spMk id="25" creationId="{00000000-0000-0000-0000-000000000000}"/>
          </ac:spMkLst>
        </pc:spChg>
        <pc:picChg chg="del">
          <ac:chgData name="sahasradhanalakoti58@outlook.com" userId="70ac696efc331d56" providerId="LiveId" clId="{8912D241-23FB-4AB0-BA64-29E9FA8E1D04}" dt="2026-10-15T03:46:12.949" v="0" actId="478"/>
          <ac:picMkLst>
            <pc:docMk/>
            <pc:sldMk cId="0" sldId="259"/>
            <ac:picMk id="24"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2087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as a four-input even parity generator. The presentation moves from the purpose of parity, through the XOR design and Logisim implementation, to verification with the complete truth table.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Parity does not correct an error. It adds a predictable relationship to the data so that a single-bit change can be detected when the word is checked.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signal from left to right. XOR1 combines A and B, XOR2 adds C, and XOR3 adds D. The final output is the parity bit P. If the design must produce odd parity instead, place a NOT gate after the generated output.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Logisim, place the components first so the structure is easy to inspect. Connect the gates in order, then use the switches to create test cases. The output should change whenever the number of active inputs changes from even to odd or from odd to even.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contains all 16 possible combinations for four inputs. Highlight the rows where P is 1. In each of those rows, the original data contains an odd number of 1s, so adding P makes the five-bit transmitted word even.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returning to the main result: the circuit is small, combinational, and easy to verify. The same XOR pattern can be extended to wider data words, paired with a checker, or tested automatically in Logisim.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4F0E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pic>
        <p:nvPicPr>
          <p:cNvPr id="3"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4F0E6"/>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60382" y="1114926"/>
            <a:ext cx="5968851" cy="4953000"/>
          </a:xfrm>
          <a:prstGeom prst="rect">
            <a:avLst/>
          </a:prstGeom>
          <a:solidFill>
            <a:srgbClr val="F4F0E6"/>
          </a:solidFill>
          <a:ln w="25399">
            <a:solidFill>
              <a:srgbClr val="22282A"/>
            </a:solidFill>
            <a:prstDash val="solid"/>
          </a:ln>
        </p:spPr>
      </p:sp>
      <p:sp>
        <p:nvSpPr>
          <p:cNvPr id="3" name="Text 1"/>
          <p:cNvSpPr/>
          <p:nvPr/>
        </p:nvSpPr>
        <p:spPr>
          <a:xfrm>
            <a:off x="1066773" y="1325996"/>
            <a:ext cx="5765656" cy="190500"/>
          </a:xfrm>
          <a:prstGeom prst="rect">
            <a:avLst/>
          </a:prstGeom>
          <a:noFill/>
          <a:ln/>
        </p:spPr>
        <p:txBody>
          <a:bodyPr wrap="none" lIns="0" tIns="0" rIns="0" bIns="0" rtlCol="0" anchor="t"/>
          <a:lstStyle/>
          <a:p>
            <a:pPr marL="0" indent="0" algn="l">
              <a:lnSpc>
                <a:spcPct val="100000"/>
              </a:lnSpc>
              <a:buNone/>
            </a:pPr>
            <a:r>
              <a:rPr lang="en-US" sz="1250" kern="100" spc="100" dirty="0">
                <a:solidFill>
                  <a:srgbClr val="22282A"/>
                </a:solidFill>
                <a:latin typeface="IBM Plex Mono SemiBold" pitchFamily="34" charset="0"/>
                <a:ea typeface="IBM Plex Mono SemiBold" pitchFamily="34" charset="-122"/>
                <a:cs typeface="IBM Plex Mono SemiBold" pitchFamily="34" charset="-120"/>
              </a:rPr>
              <a:t>DIGITAL LOGIC · PROJECT DEMONSTRATION</a:t>
            </a:r>
            <a:endParaRPr lang="en-US" sz="1250" dirty="0"/>
          </a:p>
        </p:txBody>
      </p:sp>
      <p:sp>
        <p:nvSpPr>
          <p:cNvPr id="4" name="Text 2"/>
          <p:cNvSpPr/>
          <p:nvPr/>
        </p:nvSpPr>
        <p:spPr>
          <a:xfrm>
            <a:off x="1066773" y="1787144"/>
            <a:ext cx="5156071" cy="2102941"/>
          </a:xfrm>
          <a:prstGeom prst="rect">
            <a:avLst/>
          </a:prstGeom>
          <a:noFill/>
          <a:ln/>
        </p:spPr>
        <p:txBody>
          <a:bodyPr wrap="square" lIns="0" tIns="0" rIns="0" bIns="0" rtlCol="0" anchor="t">
            <a:normAutofit/>
          </a:bodyPr>
          <a:lstStyle/>
          <a:p>
            <a:pPr marL="0" indent="0" algn="l">
              <a:lnSpc>
                <a:spcPct val="77000"/>
              </a:lnSpc>
              <a:buNone/>
            </a:pPr>
            <a:r>
              <a:rPr lang="en-US" sz="3600" kern="100" spc="-54" dirty="0">
                <a:solidFill>
                  <a:srgbClr val="22282A"/>
                </a:solidFill>
                <a:latin typeface="Archivo Black" pitchFamily="34" charset="0"/>
                <a:ea typeface="Archivo Black" pitchFamily="34" charset="-122"/>
                <a:cs typeface="Archivo Black" pitchFamily="34" charset="-120"/>
              </a:rPr>
              <a:t>DESIGN AND SIMULATION OF AN </a:t>
            </a:r>
            <a:r>
              <a:rPr lang="en-US" sz="3600" kern="100" spc="-54" dirty="0">
                <a:solidFill>
                  <a:srgbClr val="1E6FB8"/>
                </a:solidFill>
                <a:latin typeface="Archivo Black" pitchFamily="34" charset="0"/>
                <a:ea typeface="Archivo Black" pitchFamily="34" charset="-122"/>
                <a:cs typeface="Archivo Black" pitchFamily="34" charset="-120"/>
              </a:rPr>
              <a:t>EVEN PARITY GENERATOR</a:t>
            </a:r>
            <a:r>
              <a:rPr lang="en-US" sz="3600" kern="100" spc="-54" dirty="0">
                <a:solidFill>
                  <a:srgbClr val="22282A"/>
                </a:solidFill>
                <a:latin typeface="Archivo Black" pitchFamily="34" charset="0"/>
                <a:ea typeface="Archivo Black" pitchFamily="34" charset="-122"/>
                <a:cs typeface="Archivo Black" pitchFamily="34" charset="-120"/>
              </a:rPr>
              <a:t> USING XOR GATES</a:t>
            </a:r>
            <a:endParaRPr lang="en-US" sz="3600" dirty="0"/>
          </a:p>
        </p:txBody>
      </p:sp>
      <p:sp>
        <p:nvSpPr>
          <p:cNvPr id="5" name="Text 3"/>
          <p:cNvSpPr/>
          <p:nvPr/>
        </p:nvSpPr>
        <p:spPr>
          <a:xfrm>
            <a:off x="1066773" y="4096841"/>
            <a:ext cx="5765656" cy="291405"/>
          </a:xfrm>
          <a:prstGeom prst="rect">
            <a:avLst/>
          </a:prstGeom>
          <a:noFill/>
          <a:ln/>
        </p:spPr>
        <p:txBody>
          <a:bodyPr wrap="none" lIns="0" tIns="0" rIns="0" bIns="0" rtlCol="0" anchor="t"/>
          <a:lstStyle/>
          <a:p>
            <a:pPr marL="0" indent="0" algn="l">
              <a:lnSpc>
                <a:spcPct val="112000"/>
              </a:lnSpc>
              <a:buNone/>
            </a:pPr>
            <a:r>
              <a:rPr lang="en-US" sz="1700" dirty="0">
                <a:solidFill>
                  <a:srgbClr val="22282A"/>
                </a:solidFill>
                <a:latin typeface="Atkinson Hyperlegible" pitchFamily="34" charset="0"/>
                <a:ea typeface="Atkinson Hyperlegible" pitchFamily="34" charset="-122"/>
                <a:cs typeface="Atkinson Hyperlegible" pitchFamily="34" charset="-120"/>
              </a:rPr>
              <a:t>GROUP – 4</a:t>
            </a:r>
            <a:endParaRPr lang="en-US" sz="1700" dirty="0"/>
          </a:p>
        </p:txBody>
      </p:sp>
      <p:sp>
        <p:nvSpPr>
          <p:cNvPr id="6" name="Text 4"/>
          <p:cNvSpPr/>
          <p:nvPr/>
        </p:nvSpPr>
        <p:spPr>
          <a:xfrm>
            <a:off x="1066771" y="4499964"/>
            <a:ext cx="5156071" cy="1114227"/>
          </a:xfrm>
          <a:prstGeom prst="rect">
            <a:avLst/>
          </a:prstGeom>
          <a:noFill/>
          <a:ln/>
        </p:spPr>
        <p:txBody>
          <a:bodyPr wrap="square" lIns="0" tIns="0" rIns="0" bIns="0" rtlCol="0" anchor="t">
            <a:normAutofit/>
          </a:bodyPr>
          <a:lstStyle/>
          <a:p>
            <a:pPr marL="0" indent="0" algn="l">
              <a:lnSpc>
                <a:spcPct val="108000"/>
              </a:lnSpc>
              <a:buNone/>
            </a:pPr>
            <a:r>
              <a:rPr lang="en-US" sz="1350" kern="100" spc="13" dirty="0">
                <a:solidFill>
                  <a:srgbClr val="22282A"/>
                </a:solidFill>
                <a:latin typeface="Atkinson Hyperlegible" pitchFamily="34" charset="0"/>
                <a:ea typeface="Atkinson Hyperlegible" pitchFamily="34" charset="-122"/>
                <a:cs typeface="Atkinson Hyperlegible" pitchFamily="34" charset="-120"/>
              </a:rPr>
              <a:t>RESHMA – 2620030330</a:t>
            </a:r>
            <a:endParaRPr lang="en-US" sz="1350" dirty="0"/>
          </a:p>
          <a:p>
            <a:pPr marL="0" indent="0" algn="l">
              <a:lnSpc>
                <a:spcPct val="108000"/>
              </a:lnSpc>
              <a:buNone/>
            </a:pPr>
            <a:r>
              <a:rPr lang="en-US" sz="1350" kern="100" spc="13" dirty="0">
                <a:solidFill>
                  <a:srgbClr val="22282A"/>
                </a:solidFill>
                <a:latin typeface="Atkinson Hyperlegible" pitchFamily="34" charset="0"/>
                <a:ea typeface="Atkinson Hyperlegible" pitchFamily="34" charset="-122"/>
                <a:cs typeface="Atkinson Hyperlegible" pitchFamily="34" charset="-120"/>
              </a:rPr>
              <a:t>SUJAN – 2620030354</a:t>
            </a:r>
            <a:endParaRPr lang="en-US" sz="1350" dirty="0"/>
          </a:p>
          <a:p>
            <a:pPr marL="0" indent="0" algn="l">
              <a:lnSpc>
                <a:spcPct val="108000"/>
              </a:lnSpc>
              <a:buNone/>
            </a:pPr>
            <a:r>
              <a:rPr lang="en-US" sz="1350" kern="100" spc="13" dirty="0">
                <a:solidFill>
                  <a:srgbClr val="22282A"/>
                </a:solidFill>
                <a:latin typeface="Atkinson Hyperlegible" pitchFamily="34" charset="0"/>
                <a:ea typeface="Atkinson Hyperlegible" pitchFamily="34" charset="-122"/>
                <a:cs typeface="Atkinson Hyperlegible" pitchFamily="34" charset="-120"/>
              </a:rPr>
              <a:t>MOKSHITH – 2620030369</a:t>
            </a:r>
            <a:endParaRPr lang="en-US" sz="1350" dirty="0"/>
          </a:p>
          <a:p>
            <a:pPr marL="0" indent="0" algn="l">
              <a:lnSpc>
                <a:spcPct val="108000"/>
              </a:lnSpc>
              <a:buNone/>
            </a:pPr>
            <a:r>
              <a:rPr lang="en-US" sz="1350" kern="100" spc="13" dirty="0">
                <a:solidFill>
                  <a:srgbClr val="22282A"/>
                </a:solidFill>
                <a:latin typeface="Atkinson Hyperlegible" pitchFamily="34" charset="0"/>
                <a:ea typeface="Atkinson Hyperlegible" pitchFamily="34" charset="-122"/>
                <a:cs typeface="Atkinson Hyperlegible" pitchFamily="34" charset="-120"/>
              </a:rPr>
              <a:t>SAMANVITHA – 2620030276</a:t>
            </a:r>
            <a:endParaRPr lang="en-US" sz="1350" dirty="0"/>
          </a:p>
          <a:p>
            <a:pPr marL="0" indent="0" algn="l">
              <a:lnSpc>
                <a:spcPct val="108000"/>
              </a:lnSpc>
              <a:buNone/>
            </a:pPr>
            <a:r>
              <a:rPr lang="en-US" sz="1350" kern="100" spc="13" dirty="0">
                <a:solidFill>
                  <a:srgbClr val="22282A"/>
                </a:solidFill>
                <a:latin typeface="Atkinson Hyperlegible" pitchFamily="34" charset="0"/>
                <a:ea typeface="Atkinson Hyperlegible" pitchFamily="34" charset="-122"/>
                <a:cs typeface="Atkinson Hyperlegible" pitchFamily="34" charset="-120"/>
              </a:rPr>
              <a:t>ACHSAH – 2620030402</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189" y="462396"/>
            <a:ext cx="3606710" cy="190500"/>
          </a:xfrm>
          <a:prstGeom prst="rect">
            <a:avLst/>
          </a:prstGeom>
          <a:noFill/>
          <a:ln/>
        </p:spPr>
        <p:txBody>
          <a:bodyPr wrap="none" lIns="0" tIns="0" rIns="0" bIns="0" rtlCol="0" anchor="t"/>
          <a:lstStyle/>
          <a:p>
            <a:pPr marL="0" indent="0" algn="l">
              <a:lnSpc>
                <a:spcPct val="100000"/>
              </a:lnSpc>
              <a:buNone/>
            </a:pPr>
            <a:r>
              <a:rPr lang="en-US" sz="1250" kern="100" spc="100" dirty="0">
                <a:solidFill>
                  <a:srgbClr val="22282A"/>
                </a:solidFill>
                <a:latin typeface="IBM Plex Mono SemiBold" pitchFamily="34" charset="0"/>
                <a:ea typeface="IBM Plex Mono SemiBold" pitchFamily="34" charset="-122"/>
                <a:cs typeface="IBM Plex Mono SemiBold" pitchFamily="34" charset="-120"/>
              </a:rPr>
              <a:t>01 · WHY PARITY</a:t>
            </a:r>
            <a:endParaRPr lang="en-US" sz="1250" dirty="0"/>
          </a:p>
        </p:txBody>
      </p:sp>
      <p:sp>
        <p:nvSpPr>
          <p:cNvPr id="3" name="Text 1"/>
          <p:cNvSpPr/>
          <p:nvPr/>
        </p:nvSpPr>
        <p:spPr>
          <a:xfrm>
            <a:off x="457189" y="746477"/>
            <a:ext cx="3149521" cy="990600"/>
          </a:xfrm>
          <a:prstGeom prst="rect">
            <a:avLst/>
          </a:prstGeom>
          <a:noFill/>
          <a:ln/>
        </p:spPr>
        <p:txBody>
          <a:bodyPr wrap="square" lIns="0" tIns="0" rIns="0" bIns="0" rtlCol="0" anchor="t">
            <a:normAutofit/>
          </a:bodyPr>
          <a:lstStyle/>
          <a:p>
            <a:pPr marL="0" indent="0" algn="l">
              <a:lnSpc>
                <a:spcPct val="83000"/>
              </a:lnSpc>
              <a:buNone/>
            </a:pPr>
            <a:r>
              <a:rPr lang="en-US" sz="2600" b="1" kern="100" spc="-26" dirty="0">
                <a:solidFill>
                  <a:srgbClr val="22282A"/>
                </a:solidFill>
                <a:latin typeface="Archivo Bold" pitchFamily="34" charset="0"/>
                <a:ea typeface="Archivo Bold" pitchFamily="34" charset="-122"/>
                <a:cs typeface="Archivo Bold" pitchFamily="34" charset="-120"/>
              </a:rPr>
              <a:t>PARITY ADDS ONE BIT TO MAKE ERRORS VISIBLE</a:t>
            </a:r>
            <a:endParaRPr lang="en-US" sz="2600" dirty="0"/>
          </a:p>
        </p:txBody>
      </p:sp>
      <p:sp>
        <p:nvSpPr>
          <p:cNvPr id="4" name="Shape 2"/>
          <p:cNvSpPr/>
          <p:nvPr/>
        </p:nvSpPr>
        <p:spPr>
          <a:xfrm>
            <a:off x="457189" y="1968500"/>
            <a:ext cx="1039290" cy="38100"/>
          </a:xfrm>
          <a:prstGeom prst="roundRect">
            <a:avLst>
              <a:gd name="adj" fmla="val 49999"/>
            </a:avLst>
          </a:prstGeom>
          <a:solidFill>
            <a:srgbClr val="1E6FB8"/>
          </a:solidFill>
          <a:ln/>
        </p:spPr>
      </p:sp>
      <p:sp>
        <p:nvSpPr>
          <p:cNvPr id="5" name="Text 3"/>
          <p:cNvSpPr/>
          <p:nvPr/>
        </p:nvSpPr>
        <p:spPr>
          <a:xfrm>
            <a:off x="457189" y="2238375"/>
            <a:ext cx="3149521" cy="1371600"/>
          </a:xfrm>
          <a:prstGeom prst="rect">
            <a:avLst/>
          </a:prstGeom>
          <a:noFill/>
          <a:ln/>
        </p:spPr>
        <p:txBody>
          <a:bodyPr wrap="square" lIns="0" tIns="0" rIns="0" bIns="0" rtlCol="0" anchor="t">
            <a:normAutofit/>
          </a:bodyPr>
          <a:lstStyle/>
          <a:p>
            <a:pPr marL="0" indent="0" algn="l">
              <a:lnSpc>
                <a:spcPct val="112000"/>
              </a:lnSpc>
              <a:buNone/>
            </a:pPr>
            <a:r>
              <a:rPr lang="en-US" sz="2000" dirty="0">
                <a:solidFill>
                  <a:srgbClr val="22282A"/>
                </a:solidFill>
                <a:latin typeface="Atkinson Hyperlegible" pitchFamily="34" charset="0"/>
                <a:ea typeface="Atkinson Hyperlegible" pitchFamily="34" charset="-122"/>
                <a:cs typeface="Atkinson Hyperlegible" pitchFamily="34" charset="-120"/>
              </a:rPr>
              <a:t>A parity bit gives a digital word a simple consistency check before it is transmitted or stored.</a:t>
            </a:r>
            <a:endParaRPr lang="en-US" sz="2000" dirty="0"/>
          </a:p>
        </p:txBody>
      </p:sp>
      <p:sp>
        <p:nvSpPr>
          <p:cNvPr id="6" name="Shape 4"/>
          <p:cNvSpPr/>
          <p:nvPr/>
        </p:nvSpPr>
        <p:spPr>
          <a:xfrm>
            <a:off x="457189" y="4488458"/>
            <a:ext cx="3149521" cy="1912342"/>
          </a:xfrm>
          <a:prstGeom prst="rect">
            <a:avLst/>
          </a:prstGeom>
          <a:solidFill>
            <a:srgbClr val="F6C945"/>
          </a:solidFill>
          <a:ln/>
        </p:spPr>
      </p:sp>
      <p:sp>
        <p:nvSpPr>
          <p:cNvPr id="7" name="Text 5"/>
          <p:cNvSpPr/>
          <p:nvPr/>
        </p:nvSpPr>
        <p:spPr>
          <a:xfrm>
            <a:off x="711182" y="4675624"/>
            <a:ext cx="2641534" cy="248245"/>
          </a:xfrm>
          <a:prstGeom prst="rect">
            <a:avLst/>
          </a:prstGeom>
          <a:noFill/>
          <a:ln/>
        </p:spPr>
        <p:txBody>
          <a:bodyPr wrap="none" lIns="0" tIns="0" rIns="0" bIns="0" rtlCol="0" anchor="t"/>
          <a:lstStyle/>
          <a:p>
            <a:pPr marL="0" indent="0" algn="l">
              <a:lnSpc>
                <a:spcPct val="96000"/>
              </a:lnSpc>
              <a:buNone/>
            </a:pPr>
            <a:r>
              <a:rPr lang="en-US" sz="1700" b="1" dirty="0">
                <a:solidFill>
                  <a:srgbClr val="000000"/>
                </a:solidFill>
                <a:latin typeface="Atkinson Hyperlegible Bold" pitchFamily="34" charset="0"/>
                <a:ea typeface="Atkinson Hyperlegible Bold" pitchFamily="34" charset="-122"/>
                <a:cs typeface="Atkinson Hyperlegible Bold" pitchFamily="34" charset="-120"/>
              </a:rPr>
              <a:t>Project objective</a:t>
            </a:r>
            <a:endParaRPr lang="en-US" sz="1700" dirty="0"/>
          </a:p>
        </p:txBody>
      </p:sp>
      <p:sp>
        <p:nvSpPr>
          <p:cNvPr id="8" name="Text 6"/>
          <p:cNvSpPr/>
          <p:nvPr/>
        </p:nvSpPr>
        <p:spPr>
          <a:xfrm>
            <a:off x="711182" y="5057378"/>
            <a:ext cx="2641534" cy="1165622"/>
          </a:xfrm>
          <a:prstGeom prst="rect">
            <a:avLst/>
          </a:prstGeom>
          <a:noFill/>
          <a:ln/>
        </p:spPr>
        <p:txBody>
          <a:bodyPr wrap="square" lIns="0" tIns="0" rIns="0" bIns="0" rtlCol="0" anchor="t">
            <a:normAutofit/>
          </a:bodyPr>
          <a:lstStyle/>
          <a:p>
            <a:pPr marL="0" indent="0" algn="l">
              <a:lnSpc>
                <a:spcPct val="112000"/>
              </a:lnSpc>
              <a:buNone/>
            </a:pPr>
            <a:r>
              <a:rPr lang="en-US" sz="1700" dirty="0">
                <a:solidFill>
                  <a:srgbClr val="000000"/>
                </a:solidFill>
                <a:latin typeface="Atkinson Hyperlegible" pitchFamily="34" charset="0"/>
                <a:ea typeface="Atkinson Hyperlegible" pitchFamily="34" charset="-122"/>
                <a:cs typeface="Atkinson Hyperlegible" pitchFamily="34" charset="-120"/>
              </a:rPr>
              <a:t>Design the logic, implement it in Logisim, and verify all input combinations.</a:t>
            </a:r>
            <a:endParaRPr lang="en-US" sz="1700" dirty="0"/>
          </a:p>
        </p:txBody>
      </p:sp>
      <p:sp>
        <p:nvSpPr>
          <p:cNvPr id="9" name="Shape 7"/>
          <p:cNvSpPr/>
          <p:nvPr/>
        </p:nvSpPr>
        <p:spPr>
          <a:xfrm>
            <a:off x="4521087" y="457200"/>
            <a:ext cx="647684" cy="647700"/>
          </a:xfrm>
          <a:prstGeom prst="ellipse">
            <a:avLst/>
          </a:prstGeom>
          <a:solidFill>
            <a:srgbClr val="1E6FB8"/>
          </a:solidFill>
          <a:ln/>
        </p:spPr>
      </p:sp>
      <p:pic>
        <p:nvPicPr>
          <p:cNvPr id="10" name="Image 0" descr="preencoded.png"/>
          <p:cNvPicPr>
            <a:picLocks noChangeAspect="1"/>
          </p:cNvPicPr>
          <p:nvPr/>
        </p:nvPicPr>
        <p:blipFill>
          <a:blip r:embed="rId3"/>
          <a:stretch>
            <a:fillRect/>
          </a:stretch>
        </p:blipFill>
        <p:spPr>
          <a:xfrm>
            <a:off x="4683008" y="619125"/>
            <a:ext cx="323842" cy="323850"/>
          </a:xfrm>
          <a:prstGeom prst="rect">
            <a:avLst/>
          </a:prstGeom>
        </p:spPr>
      </p:pic>
      <p:sp>
        <p:nvSpPr>
          <p:cNvPr id="11" name="Text 8"/>
          <p:cNvSpPr/>
          <p:nvPr/>
        </p:nvSpPr>
        <p:spPr>
          <a:xfrm>
            <a:off x="4521087" y="1290637"/>
            <a:ext cx="2997125" cy="292100"/>
          </a:xfrm>
          <a:prstGeom prst="rect">
            <a:avLst/>
          </a:prstGeom>
          <a:noFill/>
          <a:ln/>
        </p:spPr>
        <p:txBody>
          <a:bodyPr wrap="none" lIns="0" tIns="0" rIns="0" bIns="0" rtlCol="0" anchor="t"/>
          <a:lstStyle/>
          <a:p>
            <a:pPr marL="0" indent="0" algn="l">
              <a:lnSpc>
                <a:spcPct val="96000"/>
              </a:lnSpc>
              <a:buNone/>
            </a:pPr>
            <a:r>
              <a:rPr lang="en-US" sz="2000" b="1" dirty="0">
                <a:solidFill>
                  <a:srgbClr val="22282A"/>
                </a:solidFill>
                <a:latin typeface="Atkinson Hyperlegible Bold" pitchFamily="34" charset="0"/>
                <a:ea typeface="Atkinson Hyperlegible Bold" pitchFamily="34" charset="-122"/>
                <a:cs typeface="Atkinson Hyperlegible Bold" pitchFamily="34" charset="-120"/>
              </a:rPr>
              <a:t>Generate</a:t>
            </a:r>
            <a:endParaRPr lang="en-US" sz="2000" dirty="0"/>
          </a:p>
        </p:txBody>
      </p:sp>
      <p:sp>
        <p:nvSpPr>
          <p:cNvPr id="12" name="Text 9"/>
          <p:cNvSpPr/>
          <p:nvPr/>
        </p:nvSpPr>
        <p:spPr>
          <a:xfrm>
            <a:off x="4521087" y="1717675"/>
            <a:ext cx="2997125" cy="582811"/>
          </a:xfrm>
          <a:prstGeom prst="rect">
            <a:avLst/>
          </a:prstGeom>
          <a:noFill/>
          <a:ln/>
        </p:spPr>
        <p:txBody>
          <a:bodyPr wrap="square" lIns="0" tIns="0" rIns="0" bIns="0" rtlCol="0" anchor="t">
            <a:normAutofit/>
          </a:bodyPr>
          <a:lstStyle/>
          <a:p>
            <a:pPr marL="0" indent="0" algn="l">
              <a:lnSpc>
                <a:spcPct val="112000"/>
              </a:lnSpc>
              <a:buNone/>
            </a:pPr>
            <a:r>
              <a:rPr lang="en-US" sz="1700" dirty="0">
                <a:solidFill>
                  <a:srgbClr val="22282A"/>
                </a:solidFill>
                <a:latin typeface="Atkinson Hyperlegible" pitchFamily="34" charset="0"/>
                <a:ea typeface="Atkinson Hyperlegible" pitchFamily="34" charset="-122"/>
                <a:cs typeface="Atkinson Hyperlegible" pitchFamily="34" charset="-120"/>
              </a:rPr>
              <a:t>Create one even parity bit for a digital data word.</a:t>
            </a:r>
            <a:endParaRPr lang="en-US" sz="1700" dirty="0"/>
          </a:p>
        </p:txBody>
      </p:sp>
      <p:sp>
        <p:nvSpPr>
          <p:cNvPr id="13" name="Shape 10"/>
          <p:cNvSpPr/>
          <p:nvPr/>
        </p:nvSpPr>
        <p:spPr>
          <a:xfrm>
            <a:off x="8737381" y="457200"/>
            <a:ext cx="647684" cy="647700"/>
          </a:xfrm>
          <a:prstGeom prst="ellipse">
            <a:avLst/>
          </a:prstGeom>
          <a:solidFill>
            <a:srgbClr val="1E6FB8"/>
          </a:solidFill>
          <a:ln/>
        </p:spPr>
      </p:sp>
      <p:pic>
        <p:nvPicPr>
          <p:cNvPr id="14" name="Image 1" descr="preencoded.png"/>
          <p:cNvPicPr>
            <a:picLocks noChangeAspect="1"/>
          </p:cNvPicPr>
          <p:nvPr/>
        </p:nvPicPr>
        <p:blipFill>
          <a:blip r:embed="rId4"/>
          <a:stretch>
            <a:fillRect/>
          </a:stretch>
        </p:blipFill>
        <p:spPr>
          <a:xfrm>
            <a:off x="8899302" y="619125"/>
            <a:ext cx="323842" cy="323850"/>
          </a:xfrm>
          <a:prstGeom prst="rect">
            <a:avLst/>
          </a:prstGeom>
        </p:spPr>
      </p:pic>
      <p:sp>
        <p:nvSpPr>
          <p:cNvPr id="15" name="Text 11"/>
          <p:cNvSpPr/>
          <p:nvPr/>
        </p:nvSpPr>
        <p:spPr>
          <a:xfrm>
            <a:off x="8737381" y="1290637"/>
            <a:ext cx="2997125" cy="292100"/>
          </a:xfrm>
          <a:prstGeom prst="rect">
            <a:avLst/>
          </a:prstGeom>
          <a:noFill/>
          <a:ln/>
        </p:spPr>
        <p:txBody>
          <a:bodyPr wrap="none" lIns="0" tIns="0" rIns="0" bIns="0" rtlCol="0" anchor="t"/>
          <a:lstStyle/>
          <a:p>
            <a:pPr marL="0" indent="0" algn="l">
              <a:lnSpc>
                <a:spcPct val="96000"/>
              </a:lnSpc>
              <a:buNone/>
            </a:pPr>
            <a:r>
              <a:rPr lang="en-US" sz="2000" b="1" dirty="0">
                <a:solidFill>
                  <a:srgbClr val="22282A"/>
                </a:solidFill>
                <a:latin typeface="Atkinson Hyperlegible Bold" pitchFamily="34" charset="0"/>
                <a:ea typeface="Atkinson Hyperlegible Bold" pitchFamily="34" charset="-122"/>
                <a:cs typeface="Atkinson Hyperlegible Bold" pitchFamily="34" charset="-120"/>
              </a:rPr>
              <a:t>Balance</a:t>
            </a:r>
            <a:endParaRPr lang="en-US" sz="2000" dirty="0"/>
          </a:p>
        </p:txBody>
      </p:sp>
      <p:sp>
        <p:nvSpPr>
          <p:cNvPr id="16" name="Text 12"/>
          <p:cNvSpPr/>
          <p:nvPr/>
        </p:nvSpPr>
        <p:spPr>
          <a:xfrm>
            <a:off x="8737381" y="1717675"/>
            <a:ext cx="2997125" cy="874216"/>
          </a:xfrm>
          <a:prstGeom prst="rect">
            <a:avLst/>
          </a:prstGeom>
          <a:noFill/>
          <a:ln/>
        </p:spPr>
        <p:txBody>
          <a:bodyPr wrap="square" lIns="0" tIns="0" rIns="0" bIns="0" rtlCol="0" anchor="t">
            <a:normAutofit/>
          </a:bodyPr>
          <a:lstStyle/>
          <a:p>
            <a:pPr marL="0" indent="0" algn="l">
              <a:lnSpc>
                <a:spcPct val="112000"/>
              </a:lnSpc>
              <a:buNone/>
            </a:pPr>
            <a:r>
              <a:rPr lang="en-US" sz="1700" dirty="0">
                <a:solidFill>
                  <a:srgbClr val="22282A"/>
                </a:solidFill>
                <a:latin typeface="Atkinson Hyperlegible" pitchFamily="34" charset="0"/>
                <a:ea typeface="Atkinson Hyperlegible" pitchFamily="34" charset="-122"/>
                <a:cs typeface="Atkinson Hyperlegible" pitchFamily="34" charset="-120"/>
              </a:rPr>
              <a:t>Make the total number of 1s even during transmission or storage.</a:t>
            </a:r>
            <a:endParaRPr lang="en-US" sz="1700" dirty="0"/>
          </a:p>
        </p:txBody>
      </p:sp>
      <p:sp>
        <p:nvSpPr>
          <p:cNvPr id="17" name="Shape 13"/>
          <p:cNvSpPr/>
          <p:nvPr/>
        </p:nvSpPr>
        <p:spPr>
          <a:xfrm>
            <a:off x="4521087" y="4038600"/>
            <a:ext cx="647684" cy="647700"/>
          </a:xfrm>
          <a:prstGeom prst="ellipse">
            <a:avLst/>
          </a:prstGeom>
          <a:solidFill>
            <a:srgbClr val="1E6FB8"/>
          </a:solidFill>
          <a:ln/>
        </p:spPr>
      </p:sp>
      <p:pic>
        <p:nvPicPr>
          <p:cNvPr id="18" name="Image 2" descr="preencoded.png"/>
          <p:cNvPicPr>
            <a:picLocks noChangeAspect="1"/>
          </p:cNvPicPr>
          <p:nvPr/>
        </p:nvPicPr>
        <p:blipFill>
          <a:blip r:embed="rId5"/>
          <a:stretch>
            <a:fillRect/>
          </a:stretch>
        </p:blipFill>
        <p:spPr>
          <a:xfrm>
            <a:off x="4683008" y="4200525"/>
            <a:ext cx="323842" cy="323850"/>
          </a:xfrm>
          <a:prstGeom prst="rect">
            <a:avLst/>
          </a:prstGeom>
        </p:spPr>
      </p:pic>
      <p:sp>
        <p:nvSpPr>
          <p:cNvPr id="19" name="Text 14"/>
          <p:cNvSpPr/>
          <p:nvPr/>
        </p:nvSpPr>
        <p:spPr>
          <a:xfrm>
            <a:off x="4521087" y="4872037"/>
            <a:ext cx="7213420" cy="292100"/>
          </a:xfrm>
          <a:prstGeom prst="rect">
            <a:avLst/>
          </a:prstGeom>
          <a:noFill/>
          <a:ln/>
        </p:spPr>
        <p:txBody>
          <a:bodyPr wrap="none" lIns="0" tIns="0" rIns="0" bIns="0" rtlCol="0" anchor="t"/>
          <a:lstStyle/>
          <a:p>
            <a:pPr marL="0" indent="0" algn="l">
              <a:lnSpc>
                <a:spcPct val="96000"/>
              </a:lnSpc>
              <a:buNone/>
            </a:pPr>
            <a:r>
              <a:rPr lang="en-US" sz="2000" b="1" dirty="0">
                <a:solidFill>
                  <a:srgbClr val="22282A"/>
                </a:solidFill>
                <a:latin typeface="Atkinson Hyperlegible Bold" pitchFamily="34" charset="0"/>
                <a:ea typeface="Atkinson Hyperlegible Bold" pitchFamily="34" charset="-122"/>
                <a:cs typeface="Atkinson Hyperlegible Bold" pitchFamily="34" charset="-120"/>
              </a:rPr>
              <a:t>Expose</a:t>
            </a:r>
            <a:endParaRPr lang="en-US" sz="2000" dirty="0"/>
          </a:p>
        </p:txBody>
      </p:sp>
      <p:sp>
        <p:nvSpPr>
          <p:cNvPr id="20" name="Text 15"/>
          <p:cNvSpPr/>
          <p:nvPr/>
        </p:nvSpPr>
        <p:spPr>
          <a:xfrm>
            <a:off x="4521087" y="5299075"/>
            <a:ext cx="7670608" cy="291405"/>
          </a:xfrm>
          <a:prstGeom prst="rect">
            <a:avLst/>
          </a:prstGeom>
          <a:noFill/>
          <a:ln/>
        </p:spPr>
        <p:txBody>
          <a:bodyPr wrap="none" lIns="0" tIns="0" rIns="0" bIns="0" rtlCol="0" anchor="t"/>
          <a:lstStyle/>
          <a:p>
            <a:pPr marL="0" indent="0" algn="l">
              <a:lnSpc>
                <a:spcPct val="112000"/>
              </a:lnSpc>
              <a:buNone/>
            </a:pPr>
            <a:r>
              <a:rPr lang="en-US" sz="1700" dirty="0">
                <a:solidFill>
                  <a:srgbClr val="22282A"/>
                </a:solidFill>
                <a:latin typeface="Atkinson Hyperlegible" pitchFamily="34" charset="0"/>
                <a:ea typeface="Atkinson Hyperlegible" pitchFamily="34" charset="-122"/>
                <a:cs typeface="Atkinson Hyperlegible" pitchFamily="34" charset="-120"/>
              </a:rPr>
              <a:t>A changed bit can disturb the expected parity and become visible.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189" y="462396"/>
            <a:ext cx="3845523" cy="190500"/>
          </a:xfrm>
          <a:prstGeom prst="rect">
            <a:avLst/>
          </a:prstGeom>
          <a:noFill/>
          <a:ln/>
        </p:spPr>
        <p:txBody>
          <a:bodyPr wrap="none" lIns="0" tIns="0" rIns="0" bIns="0" rtlCol="0" anchor="t"/>
          <a:lstStyle/>
          <a:p>
            <a:pPr marL="0" indent="0" algn="l">
              <a:lnSpc>
                <a:spcPct val="100000"/>
              </a:lnSpc>
              <a:buNone/>
            </a:pPr>
            <a:r>
              <a:rPr lang="en-US" sz="1250" kern="100" spc="100" dirty="0">
                <a:solidFill>
                  <a:srgbClr val="22282A"/>
                </a:solidFill>
                <a:latin typeface="IBM Plex Mono SemiBold" pitchFamily="34" charset="0"/>
                <a:ea typeface="IBM Plex Mono SemiBold" pitchFamily="34" charset="-122"/>
                <a:cs typeface="IBM Plex Mono SemiBold" pitchFamily="34" charset="-120"/>
              </a:rPr>
              <a:t>02 · LOGIC DESIGN</a:t>
            </a:r>
            <a:endParaRPr lang="en-US" sz="1250" dirty="0"/>
          </a:p>
        </p:txBody>
      </p:sp>
      <p:sp>
        <p:nvSpPr>
          <p:cNvPr id="3" name="Text 1"/>
          <p:cNvSpPr/>
          <p:nvPr/>
        </p:nvSpPr>
        <p:spPr>
          <a:xfrm>
            <a:off x="457189" y="746477"/>
            <a:ext cx="3388335" cy="990600"/>
          </a:xfrm>
          <a:prstGeom prst="rect">
            <a:avLst/>
          </a:prstGeom>
          <a:noFill/>
          <a:ln/>
        </p:spPr>
        <p:txBody>
          <a:bodyPr wrap="square" lIns="0" tIns="0" rIns="0" bIns="0" rtlCol="0" anchor="t">
            <a:normAutofit/>
          </a:bodyPr>
          <a:lstStyle/>
          <a:p>
            <a:pPr marL="0" indent="0" algn="l">
              <a:lnSpc>
                <a:spcPct val="83000"/>
              </a:lnSpc>
              <a:buNone/>
            </a:pPr>
            <a:r>
              <a:rPr lang="en-US" sz="2600" b="1" kern="100" spc="-26" dirty="0">
                <a:solidFill>
                  <a:srgbClr val="22282A"/>
                </a:solidFill>
                <a:latin typeface="Archivo Bold" pitchFamily="34" charset="0"/>
                <a:ea typeface="Archivo Bold" pitchFamily="34" charset="-122"/>
                <a:cs typeface="Archivo Bold" pitchFamily="34" charset="-120"/>
              </a:rPr>
              <a:t>CASCADED XOR GATES GENERATE THE PARITY BIT</a:t>
            </a:r>
            <a:endParaRPr lang="en-US" sz="2600" dirty="0"/>
          </a:p>
        </p:txBody>
      </p:sp>
      <p:sp>
        <p:nvSpPr>
          <p:cNvPr id="4" name="Text 2"/>
          <p:cNvSpPr/>
          <p:nvPr/>
        </p:nvSpPr>
        <p:spPr>
          <a:xfrm>
            <a:off x="457189" y="1914525"/>
            <a:ext cx="3845523" cy="342900"/>
          </a:xfrm>
          <a:prstGeom prst="rect">
            <a:avLst/>
          </a:prstGeom>
          <a:noFill/>
          <a:ln/>
        </p:spPr>
        <p:txBody>
          <a:bodyPr wrap="none" lIns="0" tIns="0" rIns="0" bIns="0" rtlCol="0" anchor="t"/>
          <a:lstStyle/>
          <a:p>
            <a:pPr marL="0" indent="0" algn="l">
              <a:lnSpc>
                <a:spcPct val="112000"/>
              </a:lnSpc>
              <a:buNone/>
            </a:pPr>
            <a:r>
              <a:rPr lang="en-US" sz="2000" dirty="0">
                <a:solidFill>
                  <a:srgbClr val="22282A"/>
                </a:solidFill>
                <a:latin typeface="Atkinson Hyperlegible" pitchFamily="34" charset="0"/>
                <a:ea typeface="Atkinson Hyperlegible" pitchFamily="34" charset="-122"/>
                <a:cs typeface="Atkinson Hyperlegible" pitchFamily="34" charset="-120"/>
              </a:rPr>
              <a:t>For inputs A, B, C, and D:</a:t>
            </a:r>
            <a:endParaRPr lang="en-US" sz="2000" dirty="0"/>
          </a:p>
        </p:txBody>
      </p:sp>
      <p:pic>
        <p:nvPicPr>
          <p:cNvPr id="5" name="Image 0" descr="preencoded.png"/>
          <p:cNvPicPr>
            <a:picLocks noChangeAspect="1"/>
          </p:cNvPicPr>
          <p:nvPr/>
        </p:nvPicPr>
        <p:blipFill>
          <a:blip r:embed="rId3"/>
          <a:stretch>
            <a:fillRect/>
          </a:stretch>
        </p:blipFill>
        <p:spPr>
          <a:xfrm>
            <a:off x="457189" y="2435225"/>
            <a:ext cx="3388335" cy="371673"/>
          </a:xfrm>
          <a:prstGeom prst="rect">
            <a:avLst/>
          </a:prstGeom>
        </p:spPr>
      </p:pic>
      <p:sp>
        <p:nvSpPr>
          <p:cNvPr id="6" name="Shape 3"/>
          <p:cNvSpPr/>
          <p:nvPr/>
        </p:nvSpPr>
        <p:spPr>
          <a:xfrm>
            <a:off x="457189" y="3010098"/>
            <a:ext cx="3388335" cy="1963142"/>
          </a:xfrm>
          <a:prstGeom prst="rect">
            <a:avLst/>
          </a:prstGeom>
          <a:solidFill>
            <a:srgbClr val="F6C945"/>
          </a:solidFill>
          <a:ln/>
        </p:spPr>
      </p:sp>
      <p:sp>
        <p:nvSpPr>
          <p:cNvPr id="7" name="Text 4"/>
          <p:cNvSpPr/>
          <p:nvPr/>
        </p:nvSpPr>
        <p:spPr>
          <a:xfrm>
            <a:off x="711182" y="3222665"/>
            <a:ext cx="2880347" cy="248245"/>
          </a:xfrm>
          <a:prstGeom prst="rect">
            <a:avLst/>
          </a:prstGeom>
          <a:noFill/>
          <a:ln/>
        </p:spPr>
        <p:txBody>
          <a:bodyPr wrap="none" lIns="0" tIns="0" rIns="0" bIns="0" rtlCol="0" anchor="t"/>
          <a:lstStyle/>
          <a:p>
            <a:pPr marL="0" indent="0" algn="l">
              <a:lnSpc>
                <a:spcPct val="96000"/>
              </a:lnSpc>
              <a:buNone/>
            </a:pPr>
            <a:r>
              <a:rPr lang="en-US" sz="1700" b="1" dirty="0">
                <a:solidFill>
                  <a:srgbClr val="000000"/>
                </a:solidFill>
                <a:latin typeface="Atkinson Hyperlegible Bold" pitchFamily="34" charset="0"/>
                <a:ea typeface="Atkinson Hyperlegible Bold" pitchFamily="34" charset="-122"/>
                <a:cs typeface="Atkinson Hyperlegible Bold" pitchFamily="34" charset="-120"/>
              </a:rPr>
              <a:t>Why XOR works</a:t>
            </a:r>
            <a:endParaRPr lang="en-US" sz="1700" dirty="0"/>
          </a:p>
        </p:txBody>
      </p:sp>
      <p:sp>
        <p:nvSpPr>
          <p:cNvPr id="8" name="Text 5"/>
          <p:cNvSpPr/>
          <p:nvPr/>
        </p:nvSpPr>
        <p:spPr>
          <a:xfrm>
            <a:off x="711182" y="3604419"/>
            <a:ext cx="2880347" cy="1165622"/>
          </a:xfrm>
          <a:prstGeom prst="rect">
            <a:avLst/>
          </a:prstGeom>
          <a:noFill/>
          <a:ln/>
        </p:spPr>
        <p:txBody>
          <a:bodyPr wrap="square" lIns="0" tIns="0" rIns="0" bIns="0" rtlCol="0" anchor="t">
            <a:normAutofit/>
          </a:bodyPr>
          <a:lstStyle/>
          <a:p>
            <a:pPr marL="0" indent="0" algn="l">
              <a:lnSpc>
                <a:spcPct val="112000"/>
              </a:lnSpc>
              <a:buNone/>
            </a:pPr>
            <a:r>
              <a:rPr lang="en-US" sz="1700" dirty="0">
                <a:solidFill>
                  <a:srgbClr val="000000"/>
                </a:solidFill>
                <a:latin typeface="Atkinson Hyperlegible" pitchFamily="34" charset="0"/>
                <a:ea typeface="Atkinson Hyperlegible" pitchFamily="34" charset="-122"/>
                <a:cs typeface="Atkinson Hyperlegible" pitchFamily="34" charset="-120"/>
              </a:rPr>
              <a:t>XOR outputs 1 when its inputs contain an odd number of 1s. Cascading gates extends that behavior to multiple inputs.</a:t>
            </a:r>
            <a:endParaRPr lang="en-US" sz="1700" dirty="0"/>
          </a:p>
        </p:txBody>
      </p:sp>
      <p:sp>
        <p:nvSpPr>
          <p:cNvPr id="9" name="Text 6"/>
          <p:cNvSpPr/>
          <p:nvPr/>
        </p:nvSpPr>
        <p:spPr>
          <a:xfrm>
            <a:off x="457189" y="5956538"/>
            <a:ext cx="3388335" cy="445691"/>
          </a:xfrm>
          <a:prstGeom prst="rect">
            <a:avLst/>
          </a:prstGeom>
          <a:noFill/>
          <a:ln/>
        </p:spPr>
        <p:txBody>
          <a:bodyPr wrap="square" lIns="0" tIns="0" rIns="0" bIns="0" rtlCol="0" anchor="t">
            <a:normAutofit/>
          </a:bodyPr>
          <a:lstStyle/>
          <a:p>
            <a:pPr marL="0" indent="0" algn="l">
              <a:lnSpc>
                <a:spcPct val="108000"/>
              </a:lnSpc>
              <a:buNone/>
            </a:pPr>
            <a:r>
              <a:rPr lang="en-US" sz="1350" kern="100" spc="13" dirty="0">
                <a:solidFill>
                  <a:srgbClr val="22282A"/>
                </a:solidFill>
                <a:latin typeface="Atkinson Hyperlegible" pitchFamily="34" charset="0"/>
                <a:ea typeface="Atkinson Hyperlegible" pitchFamily="34" charset="-122"/>
                <a:cs typeface="Atkinson Hyperlegible" pitchFamily="34" charset="-120"/>
              </a:rPr>
              <a:t>Even parity transmits A B C D P. For odd parity, invert P with a NOT gate.</a:t>
            </a:r>
            <a:endParaRPr lang="en-US" sz="1350" dirty="0"/>
          </a:p>
        </p:txBody>
      </p:sp>
      <p:pic>
        <p:nvPicPr>
          <p:cNvPr id="10" name="Image 1" descr="preencoded.png"/>
          <p:cNvPicPr>
            <a:picLocks noChangeAspect="1"/>
          </p:cNvPicPr>
          <p:nvPr/>
        </p:nvPicPr>
        <p:blipFill>
          <a:blip r:embed="rId4"/>
          <a:stretch>
            <a:fillRect/>
          </a:stretch>
        </p:blipFill>
        <p:spPr>
          <a:xfrm>
            <a:off x="5216990" y="2023666"/>
            <a:ext cx="6517517" cy="2810570"/>
          </a:xfrm>
          <a:prstGeom prst="rect">
            <a:avLst/>
          </a:prstGeom>
        </p:spPr>
      </p:pic>
      <p:sp>
        <p:nvSpPr>
          <p:cNvPr id="11" name="Text 7"/>
          <p:cNvSpPr/>
          <p:nvPr/>
        </p:nvSpPr>
        <p:spPr>
          <a:xfrm>
            <a:off x="5657167" y="2362376"/>
            <a:ext cx="3584174" cy="169864"/>
          </a:xfrm>
          <a:prstGeom prst="rect">
            <a:avLst/>
          </a:prstGeom>
          <a:noFill/>
          <a:ln/>
        </p:spPr>
        <p:txBody>
          <a:bodyPr wrap="none" lIns="0" tIns="0" rIns="0" bIns="0" rtlCol="0" anchor="t"/>
          <a:lstStyle/>
          <a:p>
            <a:pPr marL="0" indent="0" algn="l">
              <a:lnSpc>
                <a:spcPct val="96000"/>
              </a:lnSpc>
              <a:buNone/>
            </a:pPr>
            <a:r>
              <a:rPr lang="en-US" sz="1150" b="1" kern="100" spc="-12" dirty="0">
                <a:solidFill>
                  <a:srgbClr val="FFFFFF"/>
                </a:solidFill>
                <a:latin typeface="Archivo Bold" pitchFamily="34" charset="0"/>
                <a:ea typeface="Archivo Bold" pitchFamily="34" charset="-122"/>
                <a:cs typeface="Archivo Bold" pitchFamily="34" charset="-120"/>
              </a:rPr>
              <a:t>INPUTS A,B</a:t>
            </a:r>
            <a:endParaRPr lang="en-US" sz="1150" dirty="0"/>
          </a:p>
        </p:txBody>
      </p:sp>
      <p:sp>
        <p:nvSpPr>
          <p:cNvPr id="12" name="Text 8"/>
          <p:cNvSpPr/>
          <p:nvPr/>
        </p:nvSpPr>
        <p:spPr>
          <a:xfrm>
            <a:off x="5657167" y="3014135"/>
            <a:ext cx="3584174" cy="169865"/>
          </a:xfrm>
          <a:prstGeom prst="rect">
            <a:avLst/>
          </a:prstGeom>
          <a:noFill/>
          <a:ln/>
        </p:spPr>
        <p:txBody>
          <a:bodyPr wrap="none" lIns="0" tIns="0" rIns="0" bIns="0" rtlCol="0" anchor="t"/>
          <a:lstStyle/>
          <a:p>
            <a:pPr marL="0" indent="0" algn="l">
              <a:lnSpc>
                <a:spcPct val="96000"/>
              </a:lnSpc>
              <a:buNone/>
            </a:pPr>
            <a:r>
              <a:rPr lang="en-US" sz="1150" b="1" kern="100" spc="-12" dirty="0">
                <a:solidFill>
                  <a:srgbClr val="FFFFFF"/>
                </a:solidFill>
                <a:latin typeface="Archivo Bold" pitchFamily="34" charset="0"/>
                <a:ea typeface="Archivo Bold" pitchFamily="34" charset="-122"/>
                <a:cs typeface="Archivo Bold" pitchFamily="34" charset="-120"/>
              </a:rPr>
              <a:t>XOR1</a:t>
            </a:r>
            <a:endParaRPr lang="en-US" sz="1150" dirty="0"/>
          </a:p>
        </p:txBody>
      </p:sp>
      <p:sp>
        <p:nvSpPr>
          <p:cNvPr id="13" name="Text 9"/>
          <p:cNvSpPr/>
          <p:nvPr/>
        </p:nvSpPr>
        <p:spPr>
          <a:xfrm>
            <a:off x="5657167" y="3659376"/>
            <a:ext cx="3584174" cy="169864"/>
          </a:xfrm>
          <a:prstGeom prst="rect">
            <a:avLst/>
          </a:prstGeom>
          <a:noFill/>
          <a:ln/>
        </p:spPr>
        <p:txBody>
          <a:bodyPr wrap="none" lIns="0" tIns="0" rIns="0" bIns="0" rtlCol="0" anchor="t"/>
          <a:lstStyle/>
          <a:p>
            <a:pPr marL="0" indent="0" algn="l">
              <a:lnSpc>
                <a:spcPct val="96000"/>
              </a:lnSpc>
              <a:buNone/>
            </a:pPr>
            <a:r>
              <a:rPr lang="en-US" sz="1150" b="1" kern="100" spc="-12" dirty="0">
                <a:solidFill>
                  <a:srgbClr val="FFFFFF"/>
                </a:solidFill>
                <a:latin typeface="Archivo Bold" pitchFamily="34" charset="0"/>
                <a:ea typeface="Archivo Bold" pitchFamily="34" charset="-122"/>
                <a:cs typeface="Archivo Bold" pitchFamily="34" charset="-120"/>
              </a:rPr>
              <a:t>XOR2</a:t>
            </a:r>
            <a:endParaRPr lang="en-US" sz="1150" dirty="0"/>
          </a:p>
        </p:txBody>
      </p:sp>
      <p:sp>
        <p:nvSpPr>
          <p:cNvPr id="14" name="Text 10"/>
          <p:cNvSpPr/>
          <p:nvPr/>
        </p:nvSpPr>
        <p:spPr>
          <a:xfrm>
            <a:off x="5657167" y="4304616"/>
            <a:ext cx="3584174" cy="169865"/>
          </a:xfrm>
          <a:prstGeom prst="rect">
            <a:avLst/>
          </a:prstGeom>
          <a:noFill/>
          <a:ln/>
        </p:spPr>
        <p:txBody>
          <a:bodyPr wrap="none" lIns="0" tIns="0" rIns="0" bIns="0" rtlCol="0" anchor="t"/>
          <a:lstStyle/>
          <a:p>
            <a:pPr marL="0" indent="0" algn="l">
              <a:lnSpc>
                <a:spcPct val="96000"/>
              </a:lnSpc>
              <a:buNone/>
            </a:pPr>
            <a:r>
              <a:rPr lang="en-US" sz="1150" b="1" kern="100" spc="-12" dirty="0">
                <a:solidFill>
                  <a:srgbClr val="FFFFFF"/>
                </a:solidFill>
                <a:latin typeface="Archivo Bold" pitchFamily="34" charset="0"/>
                <a:ea typeface="Archivo Bold" pitchFamily="34" charset="-122"/>
                <a:cs typeface="Archivo Bold" pitchFamily="34" charset="-120"/>
              </a:rPr>
              <a:t>XOR3 → P</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189" y="462396"/>
            <a:ext cx="5801274" cy="190500"/>
          </a:xfrm>
          <a:prstGeom prst="rect">
            <a:avLst/>
          </a:prstGeom>
          <a:noFill/>
          <a:ln/>
        </p:spPr>
        <p:txBody>
          <a:bodyPr wrap="none" lIns="0" tIns="0" rIns="0" bIns="0" rtlCol="0" anchor="t"/>
          <a:lstStyle/>
          <a:p>
            <a:pPr marL="0" indent="0" algn="l">
              <a:lnSpc>
                <a:spcPct val="100000"/>
              </a:lnSpc>
              <a:buNone/>
            </a:pPr>
            <a:r>
              <a:rPr lang="en-US" sz="1250" kern="100" spc="100" dirty="0">
                <a:solidFill>
                  <a:srgbClr val="22282A"/>
                </a:solidFill>
                <a:latin typeface="IBM Plex Mono SemiBold" pitchFamily="34" charset="0"/>
                <a:ea typeface="IBM Plex Mono SemiBold" pitchFamily="34" charset="-122"/>
                <a:cs typeface="IBM Plex Mono SemiBold" pitchFamily="34" charset="-120"/>
              </a:rPr>
              <a:t>03 · IMPLEMENTATION</a:t>
            </a:r>
            <a:endParaRPr lang="en-US" sz="1250" dirty="0"/>
          </a:p>
        </p:txBody>
      </p:sp>
      <p:sp>
        <p:nvSpPr>
          <p:cNvPr id="3" name="Text 1"/>
          <p:cNvSpPr/>
          <p:nvPr/>
        </p:nvSpPr>
        <p:spPr>
          <a:xfrm>
            <a:off x="457189" y="746477"/>
            <a:ext cx="5344086" cy="990600"/>
          </a:xfrm>
          <a:prstGeom prst="rect">
            <a:avLst/>
          </a:prstGeom>
          <a:noFill/>
          <a:ln/>
        </p:spPr>
        <p:txBody>
          <a:bodyPr wrap="square" lIns="0" tIns="0" rIns="0" bIns="0" rtlCol="0" anchor="t">
            <a:normAutofit/>
          </a:bodyPr>
          <a:lstStyle/>
          <a:p>
            <a:pPr marL="0" indent="0" algn="l">
              <a:lnSpc>
                <a:spcPct val="83000"/>
              </a:lnSpc>
              <a:buNone/>
            </a:pPr>
            <a:r>
              <a:rPr lang="en-US" sz="2600" b="1" kern="100" spc="-26" dirty="0">
                <a:solidFill>
                  <a:srgbClr val="22282A"/>
                </a:solidFill>
                <a:latin typeface="Archivo Bold" pitchFamily="34" charset="0"/>
                <a:ea typeface="Archivo Bold" pitchFamily="34" charset="-122"/>
                <a:cs typeface="Archivo Bold" pitchFamily="34" charset="-120"/>
              </a:rPr>
              <a:t>LOGISIM TURNS THE BOOLEAN EXPRESSION INTO A WORKING CIRCUIT</a:t>
            </a:r>
            <a:endParaRPr lang="en-US" sz="2600" dirty="0"/>
          </a:p>
        </p:txBody>
      </p:sp>
      <p:sp>
        <p:nvSpPr>
          <p:cNvPr id="4" name="Text 2"/>
          <p:cNvSpPr/>
          <p:nvPr/>
        </p:nvSpPr>
        <p:spPr>
          <a:xfrm>
            <a:off x="457189" y="1914525"/>
            <a:ext cx="5344086" cy="582811"/>
          </a:xfrm>
          <a:prstGeom prst="rect">
            <a:avLst/>
          </a:prstGeom>
          <a:noFill/>
          <a:ln/>
        </p:spPr>
        <p:txBody>
          <a:bodyPr wrap="square" lIns="0" tIns="0" rIns="0" bIns="0" rtlCol="0" anchor="t">
            <a:normAutofit/>
          </a:bodyPr>
          <a:lstStyle/>
          <a:p>
            <a:pPr marL="0" indent="0" algn="l">
              <a:lnSpc>
                <a:spcPct val="112000"/>
              </a:lnSpc>
              <a:buNone/>
            </a:pPr>
            <a:r>
              <a:rPr lang="en-US" sz="1700" dirty="0">
                <a:solidFill>
                  <a:srgbClr val="22282A"/>
                </a:solidFill>
                <a:latin typeface="Atkinson Hyperlegible" pitchFamily="34" charset="0"/>
                <a:ea typeface="Atkinson Hyperlegible" pitchFamily="34" charset="-122"/>
                <a:cs typeface="Atkinson Hyperlegible" pitchFamily="34" charset="-120"/>
              </a:rPr>
              <a:t>Build the circuit in three short stages, then test the output by changing each input switch.</a:t>
            </a:r>
            <a:endParaRPr lang="en-US" sz="1700" dirty="0"/>
          </a:p>
        </p:txBody>
      </p:sp>
      <p:sp>
        <p:nvSpPr>
          <p:cNvPr id="5" name="Text 3"/>
          <p:cNvSpPr/>
          <p:nvPr/>
        </p:nvSpPr>
        <p:spPr>
          <a:xfrm>
            <a:off x="457189" y="2675136"/>
            <a:ext cx="847108" cy="215900"/>
          </a:xfrm>
          <a:prstGeom prst="rect">
            <a:avLst/>
          </a:prstGeom>
          <a:noFill/>
          <a:ln/>
        </p:spPr>
        <p:txBody>
          <a:bodyPr wrap="none" lIns="0" tIns="0" rIns="0" bIns="0" rtlCol="0" anchor="t"/>
          <a:lstStyle/>
          <a:p>
            <a:pPr marL="0" indent="0" algn="l">
              <a:lnSpc>
                <a:spcPct val="83000"/>
              </a:lnSpc>
              <a:buNone/>
            </a:pPr>
            <a:r>
              <a:rPr lang="en-US" sz="1700" b="1" dirty="0">
                <a:solidFill>
                  <a:srgbClr val="1E6FB8"/>
                </a:solidFill>
                <a:latin typeface="Atkinson Hyperlegible Bold" pitchFamily="34" charset="0"/>
                <a:ea typeface="Atkinson Hyperlegible Bold" pitchFamily="34" charset="-122"/>
                <a:cs typeface="Atkinson Hyperlegible Bold" pitchFamily="34" charset="-120"/>
              </a:rPr>
              <a:t>01</a:t>
            </a:r>
            <a:endParaRPr lang="en-US" sz="1700" dirty="0"/>
          </a:p>
        </p:txBody>
      </p:sp>
      <p:sp>
        <p:nvSpPr>
          <p:cNvPr id="6" name="Shape 4"/>
          <p:cNvSpPr/>
          <p:nvPr/>
        </p:nvSpPr>
        <p:spPr>
          <a:xfrm>
            <a:off x="457189" y="2977356"/>
            <a:ext cx="1578134" cy="19050"/>
          </a:xfrm>
          <a:prstGeom prst="rect">
            <a:avLst/>
          </a:prstGeom>
          <a:solidFill>
            <a:srgbClr val="1E6FB8"/>
          </a:solidFill>
          <a:ln/>
        </p:spPr>
      </p:sp>
      <p:sp>
        <p:nvSpPr>
          <p:cNvPr id="7" name="Text 5"/>
          <p:cNvSpPr/>
          <p:nvPr/>
        </p:nvSpPr>
        <p:spPr>
          <a:xfrm>
            <a:off x="457189" y="3133824"/>
            <a:ext cx="1578134" cy="292100"/>
          </a:xfrm>
          <a:prstGeom prst="rect">
            <a:avLst/>
          </a:prstGeom>
          <a:noFill/>
          <a:ln/>
        </p:spPr>
        <p:txBody>
          <a:bodyPr wrap="none" lIns="0" tIns="0" rIns="0" bIns="0" rtlCol="0" anchor="t"/>
          <a:lstStyle/>
          <a:p>
            <a:pPr marL="0" indent="0" algn="l">
              <a:lnSpc>
                <a:spcPct val="96000"/>
              </a:lnSpc>
              <a:buNone/>
            </a:pPr>
            <a:r>
              <a:rPr lang="en-US" sz="2000" b="1" dirty="0">
                <a:solidFill>
                  <a:srgbClr val="22282A"/>
                </a:solidFill>
                <a:latin typeface="Atkinson Hyperlegible Bold" pitchFamily="34" charset="0"/>
                <a:ea typeface="Atkinson Hyperlegible Bold" pitchFamily="34" charset="-122"/>
                <a:cs typeface="Atkinson Hyperlegible Bold" pitchFamily="34" charset="-120"/>
              </a:rPr>
              <a:t>Place</a:t>
            </a:r>
            <a:endParaRPr lang="en-US" sz="2000" dirty="0"/>
          </a:p>
        </p:txBody>
      </p:sp>
      <p:sp>
        <p:nvSpPr>
          <p:cNvPr id="8" name="Text 6"/>
          <p:cNvSpPr/>
          <p:nvPr/>
        </p:nvSpPr>
        <p:spPr>
          <a:xfrm>
            <a:off x="457189" y="3560862"/>
            <a:ext cx="1578134" cy="1457027"/>
          </a:xfrm>
          <a:prstGeom prst="rect">
            <a:avLst/>
          </a:prstGeom>
          <a:noFill/>
          <a:ln/>
        </p:spPr>
        <p:txBody>
          <a:bodyPr wrap="square" lIns="0" tIns="0" rIns="0" bIns="0" rtlCol="0" anchor="t">
            <a:normAutofit/>
          </a:bodyPr>
          <a:lstStyle/>
          <a:p>
            <a:pPr marL="0" indent="0" algn="l">
              <a:lnSpc>
                <a:spcPct val="112000"/>
              </a:lnSpc>
              <a:buNone/>
            </a:pPr>
            <a:r>
              <a:rPr lang="en-US" sz="1700" dirty="0">
                <a:solidFill>
                  <a:srgbClr val="22282A"/>
                </a:solidFill>
                <a:latin typeface="Atkinson Hyperlegible" pitchFamily="34" charset="0"/>
                <a:ea typeface="Atkinson Hyperlegible" pitchFamily="34" charset="-122"/>
                <a:cs typeface="Atkinson Hyperlegible" pitchFamily="34" charset="-120"/>
              </a:rPr>
              <a:t>Four input pins, three 2-input XOR gates, and one output pin for P.</a:t>
            </a:r>
            <a:endParaRPr lang="en-US" sz="1700" dirty="0"/>
          </a:p>
        </p:txBody>
      </p:sp>
      <p:sp>
        <p:nvSpPr>
          <p:cNvPr id="9" name="Text 7"/>
          <p:cNvSpPr/>
          <p:nvPr/>
        </p:nvSpPr>
        <p:spPr>
          <a:xfrm>
            <a:off x="2340115" y="2675136"/>
            <a:ext cx="876873" cy="215900"/>
          </a:xfrm>
          <a:prstGeom prst="rect">
            <a:avLst/>
          </a:prstGeom>
          <a:noFill/>
          <a:ln/>
        </p:spPr>
        <p:txBody>
          <a:bodyPr wrap="none" lIns="0" tIns="0" rIns="0" bIns="0" rtlCol="0" anchor="t"/>
          <a:lstStyle/>
          <a:p>
            <a:pPr marL="0" indent="0" algn="l">
              <a:lnSpc>
                <a:spcPct val="83000"/>
              </a:lnSpc>
              <a:buNone/>
            </a:pPr>
            <a:r>
              <a:rPr lang="en-US" sz="1700" b="1" dirty="0">
                <a:solidFill>
                  <a:srgbClr val="1E6FB8"/>
                </a:solidFill>
                <a:latin typeface="Atkinson Hyperlegible Bold" pitchFamily="34" charset="0"/>
                <a:ea typeface="Atkinson Hyperlegible Bold" pitchFamily="34" charset="-122"/>
                <a:cs typeface="Atkinson Hyperlegible Bold" pitchFamily="34" charset="-120"/>
              </a:rPr>
              <a:t>02</a:t>
            </a:r>
            <a:endParaRPr lang="en-US" sz="1700" dirty="0"/>
          </a:p>
        </p:txBody>
      </p:sp>
      <p:sp>
        <p:nvSpPr>
          <p:cNvPr id="10" name="Shape 8"/>
          <p:cNvSpPr/>
          <p:nvPr/>
        </p:nvSpPr>
        <p:spPr>
          <a:xfrm>
            <a:off x="2340115" y="2977356"/>
            <a:ext cx="1578134" cy="19050"/>
          </a:xfrm>
          <a:prstGeom prst="rect">
            <a:avLst/>
          </a:prstGeom>
          <a:solidFill>
            <a:srgbClr val="1E6FB8"/>
          </a:solidFill>
          <a:ln/>
        </p:spPr>
      </p:sp>
      <p:sp>
        <p:nvSpPr>
          <p:cNvPr id="11" name="Text 9"/>
          <p:cNvSpPr/>
          <p:nvPr/>
        </p:nvSpPr>
        <p:spPr>
          <a:xfrm>
            <a:off x="2340115" y="3133824"/>
            <a:ext cx="1578134" cy="292100"/>
          </a:xfrm>
          <a:prstGeom prst="rect">
            <a:avLst/>
          </a:prstGeom>
          <a:noFill/>
          <a:ln/>
        </p:spPr>
        <p:txBody>
          <a:bodyPr wrap="none" lIns="0" tIns="0" rIns="0" bIns="0" rtlCol="0" anchor="t"/>
          <a:lstStyle/>
          <a:p>
            <a:pPr marL="0" indent="0" algn="l">
              <a:lnSpc>
                <a:spcPct val="96000"/>
              </a:lnSpc>
              <a:buNone/>
            </a:pPr>
            <a:r>
              <a:rPr lang="en-US" sz="2000" b="1" dirty="0">
                <a:solidFill>
                  <a:srgbClr val="22282A"/>
                </a:solidFill>
                <a:latin typeface="Atkinson Hyperlegible Bold" pitchFamily="34" charset="0"/>
                <a:ea typeface="Atkinson Hyperlegible Bold" pitchFamily="34" charset="-122"/>
                <a:cs typeface="Atkinson Hyperlegible Bold" pitchFamily="34" charset="-120"/>
              </a:rPr>
              <a:t>Connect</a:t>
            </a:r>
            <a:endParaRPr lang="en-US" sz="2000" dirty="0"/>
          </a:p>
        </p:txBody>
      </p:sp>
      <p:sp>
        <p:nvSpPr>
          <p:cNvPr id="12" name="Text 10"/>
          <p:cNvSpPr/>
          <p:nvPr/>
        </p:nvSpPr>
        <p:spPr>
          <a:xfrm>
            <a:off x="2340115" y="3560862"/>
            <a:ext cx="1578134" cy="1165622"/>
          </a:xfrm>
          <a:prstGeom prst="rect">
            <a:avLst/>
          </a:prstGeom>
          <a:noFill/>
          <a:ln/>
        </p:spPr>
        <p:txBody>
          <a:bodyPr wrap="square" lIns="0" tIns="0" rIns="0" bIns="0" rtlCol="0" anchor="t">
            <a:normAutofit/>
          </a:bodyPr>
          <a:lstStyle/>
          <a:p>
            <a:pPr marL="0" indent="0" algn="l">
              <a:lnSpc>
                <a:spcPct val="112000"/>
              </a:lnSpc>
              <a:buNone/>
            </a:pPr>
            <a:r>
              <a:rPr lang="en-US" sz="1700" dirty="0">
                <a:solidFill>
                  <a:srgbClr val="22282A"/>
                </a:solidFill>
                <a:latin typeface="Atkinson Hyperlegible" pitchFamily="34" charset="0"/>
                <a:ea typeface="Atkinson Hyperlegible" pitchFamily="34" charset="-122"/>
                <a:cs typeface="Atkinson Hyperlegible" pitchFamily="34" charset="-120"/>
              </a:rPr>
              <a:t>A and B feed XOR1; its output combines with C in XOR2.</a:t>
            </a:r>
            <a:endParaRPr lang="en-US" sz="1700" dirty="0"/>
          </a:p>
        </p:txBody>
      </p:sp>
      <p:sp>
        <p:nvSpPr>
          <p:cNvPr id="13" name="Text 11"/>
          <p:cNvSpPr/>
          <p:nvPr/>
        </p:nvSpPr>
        <p:spPr>
          <a:xfrm>
            <a:off x="4223041" y="2675136"/>
            <a:ext cx="881040" cy="215900"/>
          </a:xfrm>
          <a:prstGeom prst="rect">
            <a:avLst/>
          </a:prstGeom>
          <a:noFill/>
          <a:ln/>
        </p:spPr>
        <p:txBody>
          <a:bodyPr wrap="none" lIns="0" tIns="0" rIns="0" bIns="0" rtlCol="0" anchor="t"/>
          <a:lstStyle/>
          <a:p>
            <a:pPr marL="0" indent="0" algn="l">
              <a:lnSpc>
                <a:spcPct val="83000"/>
              </a:lnSpc>
              <a:buNone/>
            </a:pPr>
            <a:r>
              <a:rPr lang="en-US" sz="1700" b="1" dirty="0">
                <a:solidFill>
                  <a:srgbClr val="1E6FB8"/>
                </a:solidFill>
                <a:latin typeface="Atkinson Hyperlegible Bold" pitchFamily="34" charset="0"/>
                <a:ea typeface="Atkinson Hyperlegible Bold" pitchFamily="34" charset="-122"/>
                <a:cs typeface="Atkinson Hyperlegible Bold" pitchFamily="34" charset="-120"/>
              </a:rPr>
              <a:t>03</a:t>
            </a:r>
            <a:endParaRPr lang="en-US" sz="1700" dirty="0"/>
          </a:p>
        </p:txBody>
      </p:sp>
      <p:sp>
        <p:nvSpPr>
          <p:cNvPr id="14" name="Shape 12"/>
          <p:cNvSpPr/>
          <p:nvPr/>
        </p:nvSpPr>
        <p:spPr>
          <a:xfrm>
            <a:off x="4223041" y="2977356"/>
            <a:ext cx="1578134" cy="19050"/>
          </a:xfrm>
          <a:prstGeom prst="rect">
            <a:avLst/>
          </a:prstGeom>
          <a:solidFill>
            <a:srgbClr val="1E6FB8"/>
          </a:solidFill>
          <a:ln/>
        </p:spPr>
      </p:sp>
      <p:sp>
        <p:nvSpPr>
          <p:cNvPr id="15" name="Text 13"/>
          <p:cNvSpPr/>
          <p:nvPr/>
        </p:nvSpPr>
        <p:spPr>
          <a:xfrm>
            <a:off x="4223041" y="3133824"/>
            <a:ext cx="1578134" cy="292100"/>
          </a:xfrm>
          <a:prstGeom prst="rect">
            <a:avLst/>
          </a:prstGeom>
          <a:noFill/>
          <a:ln/>
        </p:spPr>
        <p:txBody>
          <a:bodyPr wrap="none" lIns="0" tIns="0" rIns="0" bIns="0" rtlCol="0" anchor="t"/>
          <a:lstStyle/>
          <a:p>
            <a:pPr marL="0" indent="0" algn="l">
              <a:lnSpc>
                <a:spcPct val="96000"/>
              </a:lnSpc>
              <a:buNone/>
            </a:pPr>
            <a:r>
              <a:rPr lang="en-US" sz="2000" b="1" dirty="0">
                <a:solidFill>
                  <a:srgbClr val="22282A"/>
                </a:solidFill>
                <a:latin typeface="Atkinson Hyperlegible Bold" pitchFamily="34" charset="0"/>
                <a:ea typeface="Atkinson Hyperlegible Bold" pitchFamily="34" charset="-122"/>
                <a:cs typeface="Atkinson Hyperlegible Bold" pitchFamily="34" charset="-120"/>
              </a:rPr>
              <a:t>Test</a:t>
            </a:r>
            <a:endParaRPr lang="en-US" sz="2000" dirty="0"/>
          </a:p>
        </p:txBody>
      </p:sp>
      <p:sp>
        <p:nvSpPr>
          <p:cNvPr id="16" name="Text 14"/>
          <p:cNvSpPr/>
          <p:nvPr/>
        </p:nvSpPr>
        <p:spPr>
          <a:xfrm>
            <a:off x="4223041" y="3560862"/>
            <a:ext cx="1578134" cy="1457027"/>
          </a:xfrm>
          <a:prstGeom prst="rect">
            <a:avLst/>
          </a:prstGeom>
          <a:noFill/>
          <a:ln/>
        </p:spPr>
        <p:txBody>
          <a:bodyPr wrap="square" lIns="0" tIns="0" rIns="0" bIns="0" rtlCol="0" anchor="t">
            <a:normAutofit/>
          </a:bodyPr>
          <a:lstStyle/>
          <a:p>
            <a:pPr marL="0" indent="0" algn="l">
              <a:lnSpc>
                <a:spcPct val="112000"/>
              </a:lnSpc>
              <a:buNone/>
            </a:pPr>
            <a:r>
              <a:rPr lang="en-US" sz="1700" dirty="0">
                <a:solidFill>
                  <a:srgbClr val="22282A"/>
                </a:solidFill>
                <a:latin typeface="Atkinson Hyperlegible" pitchFamily="34" charset="0"/>
                <a:ea typeface="Atkinson Hyperlegible" pitchFamily="34" charset="-122"/>
                <a:cs typeface="Atkinson Hyperlegible" pitchFamily="34" charset="-120"/>
              </a:rPr>
              <a:t>XOR2 combines with D in XOR3. Observe P and toggle each input.</a:t>
            </a:r>
            <a:endParaRPr lang="en-US" sz="1700" dirty="0"/>
          </a:p>
        </p:txBody>
      </p:sp>
      <p:sp>
        <p:nvSpPr>
          <p:cNvPr id="17" name="Shape 15"/>
          <p:cNvSpPr/>
          <p:nvPr/>
        </p:nvSpPr>
        <p:spPr>
          <a:xfrm>
            <a:off x="457189" y="6064151"/>
            <a:ext cx="1512354" cy="336649"/>
          </a:xfrm>
          <a:prstGeom prst="rect">
            <a:avLst/>
          </a:prstGeom>
          <a:noFill/>
          <a:ln w="6350">
            <a:solidFill>
              <a:srgbClr val="22282A"/>
            </a:solidFill>
            <a:prstDash val="solid"/>
          </a:ln>
        </p:spPr>
      </p:sp>
      <p:sp>
        <p:nvSpPr>
          <p:cNvPr id="18" name="Text 16"/>
          <p:cNvSpPr/>
          <p:nvPr/>
        </p:nvSpPr>
        <p:spPr>
          <a:xfrm>
            <a:off x="586666" y="6143700"/>
            <a:ext cx="1862984" cy="207268"/>
          </a:xfrm>
          <a:prstGeom prst="rect">
            <a:avLst/>
          </a:prstGeom>
          <a:noFill/>
          <a:ln/>
        </p:spPr>
        <p:txBody>
          <a:bodyPr wrap="none" lIns="0" tIns="0" rIns="0" bIns="0" rtlCol="0" anchor="t"/>
          <a:lstStyle/>
          <a:p>
            <a:pPr marL="0" indent="0" algn="l">
              <a:lnSpc>
                <a:spcPct val="100000"/>
              </a:lnSpc>
              <a:buNone/>
            </a:pPr>
            <a:r>
              <a:rPr lang="en-US" sz="1350" kern="100" spc="82" dirty="0">
                <a:solidFill>
                  <a:srgbClr val="22282A"/>
                </a:solidFill>
                <a:latin typeface="IBM Plex Mono SemiBold" pitchFamily="34" charset="0"/>
                <a:ea typeface="IBM Plex Mono SemiBold" pitchFamily="34" charset="-122"/>
                <a:cs typeface="IBM Plex Mono SemiBold" pitchFamily="34" charset="-120"/>
              </a:rPr>
              <a:t>FOUR INPUTS</a:t>
            </a:r>
            <a:endParaRPr lang="en-US" sz="1350" dirty="0"/>
          </a:p>
        </p:txBody>
      </p:sp>
      <p:sp>
        <p:nvSpPr>
          <p:cNvPr id="19" name="Shape 17"/>
          <p:cNvSpPr/>
          <p:nvPr/>
        </p:nvSpPr>
        <p:spPr>
          <a:xfrm>
            <a:off x="2077489" y="6064151"/>
            <a:ext cx="1968153" cy="336649"/>
          </a:xfrm>
          <a:prstGeom prst="rect">
            <a:avLst/>
          </a:prstGeom>
          <a:noFill/>
          <a:ln w="6350">
            <a:solidFill>
              <a:srgbClr val="22282A"/>
            </a:solidFill>
            <a:prstDash val="solid"/>
          </a:ln>
        </p:spPr>
      </p:sp>
      <p:sp>
        <p:nvSpPr>
          <p:cNvPr id="20" name="Text 18"/>
          <p:cNvSpPr/>
          <p:nvPr/>
        </p:nvSpPr>
        <p:spPr>
          <a:xfrm>
            <a:off x="2206967" y="6143700"/>
            <a:ext cx="2318783" cy="207268"/>
          </a:xfrm>
          <a:prstGeom prst="rect">
            <a:avLst/>
          </a:prstGeom>
          <a:noFill/>
          <a:ln/>
        </p:spPr>
        <p:txBody>
          <a:bodyPr wrap="none" lIns="0" tIns="0" rIns="0" bIns="0" rtlCol="0" anchor="t"/>
          <a:lstStyle/>
          <a:p>
            <a:pPr marL="0" indent="0" algn="l">
              <a:lnSpc>
                <a:spcPct val="100000"/>
              </a:lnSpc>
              <a:buNone/>
            </a:pPr>
            <a:r>
              <a:rPr lang="en-US" sz="1350" kern="100" spc="82" dirty="0">
                <a:solidFill>
                  <a:srgbClr val="22282A"/>
                </a:solidFill>
                <a:latin typeface="IBM Plex Mono SemiBold" pitchFamily="34" charset="0"/>
                <a:ea typeface="IBM Plex Mono SemiBold" pitchFamily="34" charset="-122"/>
                <a:cs typeface="IBM Plex Mono SemiBold" pitchFamily="34" charset="-120"/>
              </a:rPr>
              <a:t>THREE XOR GATES</a:t>
            </a:r>
            <a:endParaRPr lang="en-US" sz="1350" dirty="0"/>
          </a:p>
        </p:txBody>
      </p:sp>
      <p:sp>
        <p:nvSpPr>
          <p:cNvPr id="21" name="Shape 19"/>
          <p:cNvSpPr/>
          <p:nvPr/>
        </p:nvSpPr>
        <p:spPr>
          <a:xfrm>
            <a:off x="4153590" y="6064151"/>
            <a:ext cx="1398453" cy="336649"/>
          </a:xfrm>
          <a:prstGeom prst="rect">
            <a:avLst/>
          </a:prstGeom>
          <a:noFill/>
          <a:ln w="6350">
            <a:solidFill>
              <a:srgbClr val="22282A"/>
            </a:solidFill>
            <a:prstDash val="solid"/>
          </a:ln>
        </p:spPr>
      </p:sp>
      <p:sp>
        <p:nvSpPr>
          <p:cNvPr id="22" name="Text 20"/>
          <p:cNvSpPr/>
          <p:nvPr/>
        </p:nvSpPr>
        <p:spPr>
          <a:xfrm>
            <a:off x="4283067" y="6143700"/>
            <a:ext cx="1749084" cy="207268"/>
          </a:xfrm>
          <a:prstGeom prst="rect">
            <a:avLst/>
          </a:prstGeom>
          <a:noFill/>
          <a:ln/>
        </p:spPr>
        <p:txBody>
          <a:bodyPr wrap="none" lIns="0" tIns="0" rIns="0" bIns="0" rtlCol="0" anchor="t"/>
          <a:lstStyle/>
          <a:p>
            <a:pPr marL="0" indent="0" algn="l">
              <a:lnSpc>
                <a:spcPct val="100000"/>
              </a:lnSpc>
              <a:buNone/>
            </a:pPr>
            <a:r>
              <a:rPr lang="en-US" sz="1350" kern="100" spc="82" dirty="0">
                <a:solidFill>
                  <a:srgbClr val="22282A"/>
                </a:solidFill>
                <a:latin typeface="IBM Plex Mono SemiBold" pitchFamily="34" charset="0"/>
                <a:ea typeface="IBM Plex Mono SemiBold" pitchFamily="34" charset="-122"/>
                <a:cs typeface="IBM Plex Mono SemiBold" pitchFamily="34" charset="-120"/>
              </a:rPr>
              <a:t>ONE OUTPUT</a:t>
            </a:r>
            <a:endParaRPr lang="en-US" sz="1350" dirty="0"/>
          </a:p>
        </p:txBody>
      </p:sp>
      <p:sp>
        <p:nvSpPr>
          <p:cNvPr id="25" name="Text 22"/>
          <p:cNvSpPr/>
          <p:nvPr/>
        </p:nvSpPr>
        <p:spPr>
          <a:xfrm>
            <a:off x="6867948" y="3608229"/>
            <a:ext cx="5171350" cy="445691"/>
          </a:xfrm>
          <a:prstGeom prst="rect">
            <a:avLst/>
          </a:prstGeom>
          <a:noFill/>
          <a:ln/>
        </p:spPr>
        <p:txBody>
          <a:bodyPr wrap="square" lIns="0" tIns="0" rIns="0" bIns="0" rtlCol="0" anchor="t">
            <a:normAutofit/>
          </a:bodyPr>
          <a:lstStyle/>
          <a:p>
            <a:pPr marL="0" indent="0" algn="l">
              <a:lnSpc>
                <a:spcPct val="108000"/>
              </a:lnSpc>
              <a:buNone/>
            </a:pP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189" y="462396"/>
            <a:ext cx="11734506" cy="190500"/>
          </a:xfrm>
          <a:prstGeom prst="rect">
            <a:avLst/>
          </a:prstGeom>
          <a:noFill/>
          <a:ln/>
        </p:spPr>
        <p:txBody>
          <a:bodyPr wrap="none" lIns="0" tIns="0" rIns="0" bIns="0" rtlCol="0" anchor="t"/>
          <a:lstStyle/>
          <a:p>
            <a:pPr marL="0" indent="0" algn="l">
              <a:lnSpc>
                <a:spcPct val="100000"/>
              </a:lnSpc>
              <a:buNone/>
            </a:pPr>
            <a:r>
              <a:rPr lang="en-US" sz="1250" kern="100" spc="100" dirty="0">
                <a:solidFill>
                  <a:srgbClr val="22282A"/>
                </a:solidFill>
                <a:latin typeface="IBM Plex Mono SemiBold" pitchFamily="34" charset="0"/>
                <a:ea typeface="IBM Plex Mono SemiBold" pitchFamily="34" charset="-122"/>
                <a:cs typeface="IBM Plex Mono SemiBold" pitchFamily="34" charset="-120"/>
              </a:rPr>
              <a:t>04 · VERIFICATION</a:t>
            </a:r>
            <a:endParaRPr lang="en-US" sz="1250" dirty="0"/>
          </a:p>
        </p:txBody>
      </p:sp>
      <p:sp>
        <p:nvSpPr>
          <p:cNvPr id="3" name="Text 1"/>
          <p:cNvSpPr/>
          <p:nvPr/>
        </p:nvSpPr>
        <p:spPr>
          <a:xfrm>
            <a:off x="457189" y="746477"/>
            <a:ext cx="11277318" cy="330200"/>
          </a:xfrm>
          <a:prstGeom prst="rect">
            <a:avLst/>
          </a:prstGeom>
          <a:noFill/>
          <a:ln/>
        </p:spPr>
        <p:txBody>
          <a:bodyPr wrap="none" lIns="0" tIns="0" rIns="0" bIns="0" rtlCol="0" anchor="t"/>
          <a:lstStyle/>
          <a:p>
            <a:pPr marL="0" indent="0" algn="l">
              <a:lnSpc>
                <a:spcPct val="83000"/>
              </a:lnSpc>
              <a:buNone/>
            </a:pPr>
            <a:r>
              <a:rPr lang="en-US" sz="2600" b="1" kern="100" spc="-26" dirty="0">
                <a:solidFill>
                  <a:srgbClr val="22282A"/>
                </a:solidFill>
                <a:latin typeface="Archivo Bold" pitchFamily="34" charset="0"/>
                <a:ea typeface="Archivo Bold" pitchFamily="34" charset="-122"/>
                <a:cs typeface="Archivo Bold" pitchFamily="34" charset="-120"/>
              </a:rPr>
              <a:t>THE TRUTH TABLE CONFIRMS EVERY INPUT COMBINATION</a:t>
            </a:r>
            <a:endParaRPr lang="en-US" sz="2600" dirty="0"/>
          </a:p>
        </p:txBody>
      </p:sp>
      <p:sp>
        <p:nvSpPr>
          <p:cNvPr id="4" name="Text 2"/>
          <p:cNvSpPr/>
          <p:nvPr/>
        </p:nvSpPr>
        <p:spPr>
          <a:xfrm>
            <a:off x="457189" y="1255554"/>
            <a:ext cx="11734506" cy="222845"/>
          </a:xfrm>
          <a:prstGeom prst="rect">
            <a:avLst/>
          </a:prstGeom>
          <a:noFill/>
          <a:ln/>
        </p:spPr>
        <p:txBody>
          <a:bodyPr wrap="none" lIns="0" tIns="0" rIns="0" bIns="0" rtlCol="0" anchor="t"/>
          <a:lstStyle/>
          <a:p>
            <a:pPr marL="0" indent="0" algn="l">
              <a:lnSpc>
                <a:spcPct val="108000"/>
              </a:lnSpc>
              <a:buNone/>
            </a:pPr>
            <a:r>
              <a:rPr lang="en-US" sz="1350" kern="100" spc="13" dirty="0">
                <a:solidFill>
                  <a:srgbClr val="22282A"/>
                </a:solidFill>
                <a:latin typeface="Atkinson Hyperlegible" pitchFamily="34" charset="0"/>
                <a:ea typeface="Atkinson Hyperlegible" pitchFamily="34" charset="-122"/>
                <a:cs typeface="Atkinson Hyperlegible" pitchFamily="34" charset="-120"/>
              </a:rPr>
              <a:t>P = A ⊕ B ⊕ C ⊕ D. Rows with P = 1 produce a five-bit word with an even number of 1s.</a:t>
            </a:r>
            <a:endParaRPr lang="en-US" sz="1350" dirty="0"/>
          </a:p>
        </p:txBody>
      </p:sp>
      <p:graphicFrame>
        <p:nvGraphicFramePr>
          <p:cNvPr id="6" name="Table 0"/>
          <p:cNvGraphicFramePr>
            <a:graphicFrameLocks noGrp="1"/>
          </p:cNvGraphicFramePr>
          <p:nvPr>
            <p:extLst>
              <p:ext uri="{D42A27DB-BD31-4B8C-83A1-F6EECF244321}">
                <p14:modId xmlns:p14="http://schemas.microsoft.com/office/powerpoint/2010/main" val="1551595235"/>
              </p:ext>
            </p:extLst>
          </p:nvPr>
        </p:nvGraphicFramePr>
        <p:xfrm>
          <a:off x="457189" y="1798288"/>
          <a:ext cx="1860897" cy="3638556"/>
        </p:xfrm>
        <a:graphic>
          <a:graphicData uri="http://schemas.openxmlformats.org/drawingml/2006/table">
            <a:tbl>
              <a:tblPr/>
              <a:tblGrid>
                <a:gridCol w="342789">
                  <a:extLst>
                    <a:ext uri="{9D8B030D-6E8A-4147-A177-3AD203B41FA5}">
                      <a16:colId xmlns:a16="http://schemas.microsoft.com/office/drawing/2014/main" val="20000"/>
                    </a:ext>
                  </a:extLst>
                </a:gridCol>
                <a:gridCol w="342789">
                  <a:extLst>
                    <a:ext uri="{9D8B030D-6E8A-4147-A177-3AD203B41FA5}">
                      <a16:colId xmlns:a16="http://schemas.microsoft.com/office/drawing/2014/main" val="20001"/>
                    </a:ext>
                  </a:extLst>
                </a:gridCol>
                <a:gridCol w="342789">
                  <a:extLst>
                    <a:ext uri="{9D8B030D-6E8A-4147-A177-3AD203B41FA5}">
                      <a16:colId xmlns:a16="http://schemas.microsoft.com/office/drawing/2014/main" val="20002"/>
                    </a:ext>
                  </a:extLst>
                </a:gridCol>
                <a:gridCol w="342789">
                  <a:extLst>
                    <a:ext uri="{9D8B030D-6E8A-4147-A177-3AD203B41FA5}">
                      <a16:colId xmlns:a16="http://schemas.microsoft.com/office/drawing/2014/main" val="20003"/>
                    </a:ext>
                  </a:extLst>
                </a:gridCol>
                <a:gridCol w="489741">
                  <a:extLst>
                    <a:ext uri="{9D8B030D-6E8A-4147-A177-3AD203B41FA5}">
                      <a16:colId xmlns:a16="http://schemas.microsoft.com/office/drawing/2014/main" val="20004"/>
                    </a:ext>
                  </a:extLst>
                </a:gridCol>
              </a:tblGrid>
              <a:tr h="405695">
                <a:tc>
                  <a:txBody>
                    <a:bodyPr/>
                    <a:lstStyle/>
                    <a:p>
                      <a:pPr marL="0" indent="0" algn="l">
                        <a:buNone/>
                      </a:pPr>
                      <a:r>
                        <a:rPr lang="en-US" sz="1700" kern="100" spc="102" dirty="0">
                          <a:solidFill>
                            <a:srgbClr val="FFFFFF"/>
                          </a:solidFill>
                          <a:latin typeface="Atkinson Hyperlegible" pitchFamily="34" charset="0"/>
                          <a:ea typeface="Atkinson Hyperlegible" pitchFamily="34" charset="-122"/>
                          <a:cs typeface="Atkinson Hyperlegible" pitchFamily="34" charset="-120"/>
                        </a:rPr>
                        <a:t>A</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solidFill>
                      <a:srgbClr val="1E6FB8"/>
                    </a:solidFill>
                  </a:tcPr>
                </a:tc>
                <a:tc>
                  <a:txBody>
                    <a:bodyPr/>
                    <a:lstStyle/>
                    <a:p>
                      <a:pPr marL="0" indent="0" algn="l">
                        <a:buNone/>
                      </a:pPr>
                      <a:r>
                        <a:rPr lang="en-US" sz="1700" kern="100" spc="102" dirty="0">
                          <a:solidFill>
                            <a:srgbClr val="FFFFFF"/>
                          </a:solidFill>
                          <a:latin typeface="Atkinson Hyperlegible" pitchFamily="34" charset="0"/>
                          <a:ea typeface="Atkinson Hyperlegible" pitchFamily="34" charset="-122"/>
                          <a:cs typeface="Atkinson Hyperlegible" pitchFamily="34" charset="-120"/>
                        </a:rPr>
                        <a:t>B</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solidFill>
                      <a:srgbClr val="1E6FB8"/>
                    </a:solidFill>
                  </a:tcPr>
                </a:tc>
                <a:tc>
                  <a:txBody>
                    <a:bodyPr/>
                    <a:lstStyle/>
                    <a:p>
                      <a:pPr marL="0" indent="0" algn="l">
                        <a:buNone/>
                      </a:pPr>
                      <a:r>
                        <a:rPr lang="en-US" sz="1700" kern="100" spc="102" dirty="0">
                          <a:solidFill>
                            <a:srgbClr val="FFFFFF"/>
                          </a:solidFill>
                          <a:latin typeface="Atkinson Hyperlegible" pitchFamily="34" charset="0"/>
                          <a:ea typeface="Atkinson Hyperlegible" pitchFamily="34" charset="-122"/>
                          <a:cs typeface="Atkinson Hyperlegible" pitchFamily="34" charset="-120"/>
                        </a:rPr>
                        <a:t>C</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solidFill>
                      <a:srgbClr val="1E6FB8"/>
                    </a:solidFill>
                  </a:tcPr>
                </a:tc>
                <a:tc>
                  <a:txBody>
                    <a:bodyPr/>
                    <a:lstStyle/>
                    <a:p>
                      <a:pPr marL="0" indent="0" algn="l">
                        <a:buNone/>
                      </a:pPr>
                      <a:r>
                        <a:rPr lang="en-US" sz="1700" kern="100" spc="102" dirty="0">
                          <a:solidFill>
                            <a:srgbClr val="FFFFFF"/>
                          </a:solidFill>
                          <a:latin typeface="Atkinson Hyperlegible" pitchFamily="34" charset="0"/>
                          <a:ea typeface="Atkinson Hyperlegible" pitchFamily="34" charset="-122"/>
                          <a:cs typeface="Atkinson Hyperlegible" pitchFamily="34" charset="-120"/>
                        </a:rPr>
                        <a:t>D</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solidFill>
                      <a:srgbClr val="1E6FB8"/>
                    </a:solidFill>
                  </a:tcPr>
                </a:tc>
                <a:tc>
                  <a:txBody>
                    <a:bodyPr/>
                    <a:lstStyle/>
                    <a:p>
                      <a:pPr marL="0" indent="0" algn="l">
                        <a:buNone/>
                      </a:pPr>
                      <a:r>
                        <a:rPr lang="en-US" sz="1700" kern="100" spc="102" dirty="0">
                          <a:solidFill>
                            <a:srgbClr val="FFFFFF"/>
                          </a:solidFill>
                          <a:latin typeface="Atkinson Hyperlegible" pitchFamily="34" charset="0"/>
                          <a:ea typeface="Atkinson Hyperlegible" pitchFamily="34" charset="-122"/>
                          <a:cs typeface="Atkinson Hyperlegible" pitchFamily="34" charset="-120"/>
                        </a:rPr>
                        <a:t>P</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solidFill>
                      <a:srgbClr val="1E6FB8"/>
                    </a:solidFill>
                  </a:tcPr>
                </a:tc>
                <a:extLst>
                  <a:ext uri="{0D108BD9-81ED-4DB2-BD59-A6C34878D82A}">
                    <a16:rowId xmlns:a16="http://schemas.microsoft.com/office/drawing/2014/main" val="10000"/>
                  </a:ext>
                </a:extLst>
              </a:tr>
              <a:tr h="405695">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0</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0</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0</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0</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0</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extLst>
                  <a:ext uri="{0D108BD9-81ED-4DB2-BD59-A6C34878D82A}">
                    <a16:rowId xmlns:a16="http://schemas.microsoft.com/office/drawing/2014/main" val="10001"/>
                  </a:ext>
                </a:extLst>
              </a:tr>
              <a:tr h="405695">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0</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0</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0</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1</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000000"/>
                          </a:solidFill>
                          <a:latin typeface="Atkinson Hyperlegible" pitchFamily="34" charset="0"/>
                          <a:ea typeface="Atkinson Hyperlegible" pitchFamily="34" charset="-122"/>
                          <a:cs typeface="Atkinson Hyperlegible" pitchFamily="34" charset="-120"/>
                        </a:rPr>
                        <a:t>1</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solidFill>
                      <a:srgbClr val="F6C945"/>
                    </a:solidFill>
                  </a:tcPr>
                </a:tc>
                <a:extLst>
                  <a:ext uri="{0D108BD9-81ED-4DB2-BD59-A6C34878D82A}">
                    <a16:rowId xmlns:a16="http://schemas.microsoft.com/office/drawing/2014/main" val="10002"/>
                  </a:ext>
                </a:extLst>
              </a:tr>
              <a:tr h="405695">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0</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0</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1</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0</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000000"/>
                          </a:solidFill>
                          <a:latin typeface="Atkinson Hyperlegible" pitchFamily="34" charset="0"/>
                          <a:ea typeface="Atkinson Hyperlegible" pitchFamily="34" charset="-122"/>
                          <a:cs typeface="Atkinson Hyperlegible" pitchFamily="34" charset="-120"/>
                        </a:rPr>
                        <a:t>1</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solidFill>
                      <a:srgbClr val="F6C945"/>
                    </a:solidFill>
                  </a:tcPr>
                </a:tc>
                <a:extLst>
                  <a:ext uri="{0D108BD9-81ED-4DB2-BD59-A6C34878D82A}">
                    <a16:rowId xmlns:a16="http://schemas.microsoft.com/office/drawing/2014/main" val="10003"/>
                  </a:ext>
                </a:extLst>
              </a:tr>
              <a:tr h="405695">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0</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0</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1</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1</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0</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extLst>
                  <a:ext uri="{0D108BD9-81ED-4DB2-BD59-A6C34878D82A}">
                    <a16:rowId xmlns:a16="http://schemas.microsoft.com/office/drawing/2014/main" val="10004"/>
                  </a:ext>
                </a:extLst>
              </a:tr>
              <a:tr h="405695">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0</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1</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0</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0</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000000"/>
                          </a:solidFill>
                          <a:latin typeface="Atkinson Hyperlegible" pitchFamily="34" charset="0"/>
                          <a:ea typeface="Atkinson Hyperlegible" pitchFamily="34" charset="-122"/>
                          <a:cs typeface="Atkinson Hyperlegible" pitchFamily="34" charset="-120"/>
                        </a:rPr>
                        <a:t>1</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solidFill>
                      <a:srgbClr val="F6C945"/>
                    </a:solidFill>
                  </a:tcPr>
                </a:tc>
                <a:extLst>
                  <a:ext uri="{0D108BD9-81ED-4DB2-BD59-A6C34878D82A}">
                    <a16:rowId xmlns:a16="http://schemas.microsoft.com/office/drawing/2014/main" val="10005"/>
                  </a:ext>
                </a:extLst>
              </a:tr>
              <a:tr h="405695">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0</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1</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0</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1</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0</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extLst>
                  <a:ext uri="{0D108BD9-81ED-4DB2-BD59-A6C34878D82A}">
                    <a16:rowId xmlns:a16="http://schemas.microsoft.com/office/drawing/2014/main" val="10006"/>
                  </a:ext>
                </a:extLst>
              </a:tr>
              <a:tr h="405695">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0</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1</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1</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0</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0</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extLst>
                  <a:ext uri="{0D108BD9-81ED-4DB2-BD59-A6C34878D82A}">
                    <a16:rowId xmlns:a16="http://schemas.microsoft.com/office/drawing/2014/main" val="10007"/>
                  </a:ext>
                </a:extLst>
              </a:tr>
              <a:tr h="392996">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0</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1</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1</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1</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000000"/>
                          </a:solidFill>
                          <a:latin typeface="Atkinson Hyperlegible" pitchFamily="34" charset="0"/>
                          <a:ea typeface="Atkinson Hyperlegible" pitchFamily="34" charset="-122"/>
                          <a:cs typeface="Atkinson Hyperlegible" pitchFamily="34" charset="-120"/>
                        </a:rPr>
                        <a:t>1</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solidFill>
                      <a:srgbClr val="F6C945"/>
                    </a:solidFill>
                  </a:tcPr>
                </a:tc>
                <a:extLst>
                  <a:ext uri="{0D108BD9-81ED-4DB2-BD59-A6C34878D82A}">
                    <a16:rowId xmlns:a16="http://schemas.microsoft.com/office/drawing/2014/main" val="10008"/>
                  </a:ext>
                </a:extLst>
              </a:tr>
            </a:tbl>
          </a:graphicData>
        </a:graphic>
      </p:graphicFrame>
      <p:graphicFrame>
        <p:nvGraphicFramePr>
          <p:cNvPr id="11" name="Table 1"/>
          <p:cNvGraphicFramePr>
            <a:graphicFrameLocks noGrp="1"/>
          </p:cNvGraphicFramePr>
          <p:nvPr>
            <p:extLst>
              <p:ext uri="{D42A27DB-BD31-4B8C-83A1-F6EECF244321}">
                <p14:modId xmlns:p14="http://schemas.microsoft.com/office/powerpoint/2010/main" val="653792954"/>
              </p:ext>
            </p:extLst>
          </p:nvPr>
        </p:nvGraphicFramePr>
        <p:xfrm>
          <a:off x="2614865" y="1798288"/>
          <a:ext cx="1925055" cy="3593539"/>
        </p:xfrm>
        <a:graphic>
          <a:graphicData uri="http://schemas.openxmlformats.org/drawingml/2006/table">
            <a:tbl>
              <a:tblPr/>
              <a:tblGrid>
                <a:gridCol w="354593">
                  <a:extLst>
                    <a:ext uri="{9D8B030D-6E8A-4147-A177-3AD203B41FA5}">
                      <a16:colId xmlns:a16="http://schemas.microsoft.com/office/drawing/2014/main" val="20000"/>
                    </a:ext>
                  </a:extLst>
                </a:gridCol>
                <a:gridCol w="354593">
                  <a:extLst>
                    <a:ext uri="{9D8B030D-6E8A-4147-A177-3AD203B41FA5}">
                      <a16:colId xmlns:a16="http://schemas.microsoft.com/office/drawing/2014/main" val="20001"/>
                    </a:ext>
                  </a:extLst>
                </a:gridCol>
                <a:gridCol w="354593">
                  <a:extLst>
                    <a:ext uri="{9D8B030D-6E8A-4147-A177-3AD203B41FA5}">
                      <a16:colId xmlns:a16="http://schemas.microsoft.com/office/drawing/2014/main" val="20002"/>
                    </a:ext>
                  </a:extLst>
                </a:gridCol>
                <a:gridCol w="354593">
                  <a:extLst>
                    <a:ext uri="{9D8B030D-6E8A-4147-A177-3AD203B41FA5}">
                      <a16:colId xmlns:a16="http://schemas.microsoft.com/office/drawing/2014/main" val="20003"/>
                    </a:ext>
                  </a:extLst>
                </a:gridCol>
                <a:gridCol w="506683">
                  <a:extLst>
                    <a:ext uri="{9D8B030D-6E8A-4147-A177-3AD203B41FA5}">
                      <a16:colId xmlns:a16="http://schemas.microsoft.com/office/drawing/2014/main" val="20004"/>
                    </a:ext>
                  </a:extLst>
                </a:gridCol>
              </a:tblGrid>
              <a:tr h="405695">
                <a:tc>
                  <a:txBody>
                    <a:bodyPr/>
                    <a:lstStyle/>
                    <a:p>
                      <a:pPr marL="0" indent="0" algn="l">
                        <a:buNone/>
                      </a:pPr>
                      <a:r>
                        <a:rPr lang="en-US" sz="1700" kern="100" spc="102" dirty="0">
                          <a:solidFill>
                            <a:srgbClr val="FFFFFF"/>
                          </a:solidFill>
                          <a:latin typeface="Atkinson Hyperlegible" pitchFamily="34" charset="0"/>
                          <a:ea typeface="Atkinson Hyperlegible" pitchFamily="34" charset="-122"/>
                          <a:cs typeface="Atkinson Hyperlegible" pitchFamily="34" charset="-120"/>
                        </a:rPr>
                        <a:t>A</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solidFill>
                      <a:srgbClr val="1E6FB8"/>
                    </a:solidFill>
                  </a:tcPr>
                </a:tc>
                <a:tc>
                  <a:txBody>
                    <a:bodyPr/>
                    <a:lstStyle/>
                    <a:p>
                      <a:pPr marL="0" indent="0" algn="l">
                        <a:buNone/>
                      </a:pPr>
                      <a:r>
                        <a:rPr lang="en-US" sz="1700" kern="100" spc="102" dirty="0">
                          <a:solidFill>
                            <a:srgbClr val="FFFFFF"/>
                          </a:solidFill>
                          <a:latin typeface="Atkinson Hyperlegible" pitchFamily="34" charset="0"/>
                          <a:ea typeface="Atkinson Hyperlegible" pitchFamily="34" charset="-122"/>
                          <a:cs typeface="Atkinson Hyperlegible" pitchFamily="34" charset="-120"/>
                        </a:rPr>
                        <a:t>B</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solidFill>
                      <a:srgbClr val="1E6FB8"/>
                    </a:solidFill>
                  </a:tcPr>
                </a:tc>
                <a:tc>
                  <a:txBody>
                    <a:bodyPr/>
                    <a:lstStyle/>
                    <a:p>
                      <a:pPr marL="0" indent="0" algn="l">
                        <a:buNone/>
                      </a:pPr>
                      <a:r>
                        <a:rPr lang="en-US" sz="1700" kern="100" spc="102" dirty="0">
                          <a:solidFill>
                            <a:srgbClr val="FFFFFF"/>
                          </a:solidFill>
                          <a:latin typeface="Atkinson Hyperlegible" pitchFamily="34" charset="0"/>
                          <a:ea typeface="Atkinson Hyperlegible" pitchFamily="34" charset="-122"/>
                          <a:cs typeface="Atkinson Hyperlegible" pitchFamily="34" charset="-120"/>
                        </a:rPr>
                        <a:t>C</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solidFill>
                      <a:srgbClr val="1E6FB8"/>
                    </a:solidFill>
                  </a:tcPr>
                </a:tc>
                <a:tc>
                  <a:txBody>
                    <a:bodyPr/>
                    <a:lstStyle/>
                    <a:p>
                      <a:pPr marL="0" indent="0" algn="l">
                        <a:buNone/>
                      </a:pPr>
                      <a:r>
                        <a:rPr lang="en-US" sz="1700" kern="100" spc="102" dirty="0">
                          <a:solidFill>
                            <a:srgbClr val="FFFFFF"/>
                          </a:solidFill>
                          <a:latin typeface="Atkinson Hyperlegible" pitchFamily="34" charset="0"/>
                          <a:ea typeface="Atkinson Hyperlegible" pitchFamily="34" charset="-122"/>
                          <a:cs typeface="Atkinson Hyperlegible" pitchFamily="34" charset="-120"/>
                        </a:rPr>
                        <a:t>D</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solidFill>
                      <a:srgbClr val="1E6FB8"/>
                    </a:solidFill>
                  </a:tcPr>
                </a:tc>
                <a:tc>
                  <a:txBody>
                    <a:bodyPr/>
                    <a:lstStyle/>
                    <a:p>
                      <a:pPr marL="0" indent="0" algn="l">
                        <a:buNone/>
                      </a:pPr>
                      <a:r>
                        <a:rPr lang="en-US" sz="1700" kern="100" spc="102" dirty="0">
                          <a:solidFill>
                            <a:srgbClr val="FFFFFF"/>
                          </a:solidFill>
                          <a:latin typeface="Atkinson Hyperlegible" pitchFamily="34" charset="0"/>
                          <a:ea typeface="Atkinson Hyperlegible" pitchFamily="34" charset="-122"/>
                          <a:cs typeface="Atkinson Hyperlegible" pitchFamily="34" charset="-120"/>
                        </a:rPr>
                        <a:t>P</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solidFill>
                      <a:srgbClr val="1E6FB8"/>
                    </a:solidFill>
                  </a:tcPr>
                </a:tc>
                <a:extLst>
                  <a:ext uri="{0D108BD9-81ED-4DB2-BD59-A6C34878D82A}">
                    <a16:rowId xmlns:a16="http://schemas.microsoft.com/office/drawing/2014/main" val="10000"/>
                  </a:ext>
                </a:extLst>
              </a:tr>
              <a:tr h="405695">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1</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0</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0</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0</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000000"/>
                          </a:solidFill>
                          <a:latin typeface="Atkinson Hyperlegible" pitchFamily="34" charset="0"/>
                          <a:ea typeface="Atkinson Hyperlegible" pitchFamily="34" charset="-122"/>
                          <a:cs typeface="Atkinson Hyperlegible" pitchFamily="34" charset="-120"/>
                        </a:rPr>
                        <a:t>1</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solidFill>
                      <a:srgbClr val="F6C945"/>
                    </a:solidFill>
                  </a:tcPr>
                </a:tc>
                <a:extLst>
                  <a:ext uri="{0D108BD9-81ED-4DB2-BD59-A6C34878D82A}">
                    <a16:rowId xmlns:a16="http://schemas.microsoft.com/office/drawing/2014/main" val="10001"/>
                  </a:ext>
                </a:extLst>
              </a:tr>
              <a:tr h="405695">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1</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0</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0</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1</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0</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1</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0</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1</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0</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0</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extLst>
                  <a:ext uri="{0D108BD9-81ED-4DB2-BD59-A6C34878D82A}">
                    <a16:rowId xmlns:a16="http://schemas.microsoft.com/office/drawing/2014/main" val="10003"/>
                  </a:ext>
                </a:extLst>
              </a:tr>
              <a:tr h="405695">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1</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0</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1</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1</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000000"/>
                          </a:solidFill>
                          <a:latin typeface="Atkinson Hyperlegible" pitchFamily="34" charset="0"/>
                          <a:ea typeface="Atkinson Hyperlegible" pitchFamily="34" charset="-122"/>
                          <a:cs typeface="Atkinson Hyperlegible" pitchFamily="34" charset="-120"/>
                        </a:rPr>
                        <a:t>1</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solidFill>
                      <a:srgbClr val="F6C945"/>
                    </a:solidFill>
                  </a:tcPr>
                </a:tc>
                <a:extLst>
                  <a:ext uri="{0D108BD9-81ED-4DB2-BD59-A6C34878D82A}">
                    <a16:rowId xmlns:a16="http://schemas.microsoft.com/office/drawing/2014/main" val="10004"/>
                  </a:ext>
                </a:extLst>
              </a:tr>
              <a:tr h="405695">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1</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1</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0</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0</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0</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extLst>
                  <a:ext uri="{0D108BD9-81ED-4DB2-BD59-A6C34878D82A}">
                    <a16:rowId xmlns:a16="http://schemas.microsoft.com/office/drawing/2014/main" val="10005"/>
                  </a:ext>
                </a:extLst>
              </a:tr>
              <a:tr h="405695">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1</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1</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0</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1</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000000"/>
                          </a:solidFill>
                          <a:latin typeface="Atkinson Hyperlegible" pitchFamily="34" charset="0"/>
                          <a:ea typeface="Atkinson Hyperlegible" pitchFamily="34" charset="-122"/>
                          <a:cs typeface="Atkinson Hyperlegible" pitchFamily="34" charset="-120"/>
                        </a:rPr>
                        <a:t>1</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solidFill>
                      <a:srgbClr val="F6C945"/>
                    </a:solidFill>
                  </a:tcPr>
                </a:tc>
                <a:extLst>
                  <a:ext uri="{0D108BD9-81ED-4DB2-BD59-A6C34878D82A}">
                    <a16:rowId xmlns:a16="http://schemas.microsoft.com/office/drawing/2014/main" val="10006"/>
                  </a:ext>
                </a:extLst>
              </a:tr>
              <a:tr h="405695">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1</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1</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1</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0</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000000"/>
                          </a:solidFill>
                          <a:latin typeface="Atkinson Hyperlegible" pitchFamily="34" charset="0"/>
                          <a:ea typeface="Atkinson Hyperlegible" pitchFamily="34" charset="-122"/>
                          <a:cs typeface="Atkinson Hyperlegible" pitchFamily="34" charset="-120"/>
                        </a:rPr>
                        <a:t>1</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solidFill>
                      <a:srgbClr val="F6C945"/>
                    </a:solidFill>
                  </a:tcPr>
                </a:tc>
                <a:extLst>
                  <a:ext uri="{0D108BD9-81ED-4DB2-BD59-A6C34878D82A}">
                    <a16:rowId xmlns:a16="http://schemas.microsoft.com/office/drawing/2014/main" val="10007"/>
                  </a:ext>
                </a:extLst>
              </a:tr>
              <a:tr h="392996">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1</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1</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1</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1</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tc>
                  <a:txBody>
                    <a:bodyPr/>
                    <a:lstStyle/>
                    <a:p>
                      <a:pPr marL="0" indent="0" algn="l">
                        <a:buNone/>
                      </a:pPr>
                      <a:r>
                        <a:rPr lang="en-US" sz="1700" dirty="0">
                          <a:solidFill>
                            <a:srgbClr val="22282A"/>
                          </a:solidFill>
                          <a:latin typeface="Atkinson Hyperlegible" pitchFamily="34" charset="0"/>
                          <a:ea typeface="Atkinson Hyperlegible" pitchFamily="34" charset="-122"/>
                          <a:cs typeface="Atkinson Hyperlegible" pitchFamily="34" charset="-120"/>
                        </a:rPr>
                        <a:t>0</a:t>
                      </a:r>
                      <a:endParaRPr lang="en-US" sz="1700" dirty="0">
                        <a:latin typeface="Atkinson Hyperlegible" charset="0"/>
                        <a:ea typeface="Atkinson Hyperlegible" charset="0"/>
                        <a:cs typeface="Atkinson Hyperlegible" charset="0"/>
                      </a:endParaRPr>
                    </a:p>
                  </a:txBody>
                  <a:tcPr marL="76198" marR="76198" marT="50799" marB="50799" anchor="ctr">
                    <a:lnL w="12700" cap="flat" cmpd="sng" algn="ctr">
                      <a:solidFill>
                        <a:srgbClr val="22282A"/>
                      </a:solidFill>
                      <a:prstDash val="solid"/>
                      <a:round/>
                      <a:headEnd type="none" w="med" len="med"/>
                      <a:tailEnd type="none" w="med" len="med"/>
                    </a:lnL>
                    <a:lnR w="12700" cap="flat" cmpd="sng" algn="ctr">
                      <a:solidFill>
                        <a:srgbClr val="22282A"/>
                      </a:solidFill>
                      <a:prstDash val="solid"/>
                      <a:round/>
                      <a:headEnd type="none" w="med" len="med"/>
                      <a:tailEnd type="none" w="med" len="med"/>
                    </a:lnR>
                    <a:lnT w="12700" cap="flat" cmpd="sng" algn="ctr">
                      <a:solidFill>
                        <a:srgbClr val="22282A"/>
                      </a:solidFill>
                      <a:prstDash val="solid"/>
                      <a:round/>
                      <a:headEnd type="none" w="med" len="med"/>
                      <a:tailEnd type="none" w="med" len="med"/>
                    </a:lnT>
                    <a:lnB w="12700" cap="flat" cmpd="sng" algn="ctr">
                      <a:solidFill>
                        <a:srgbClr val="22282A"/>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9" name="Shape 4"/>
          <p:cNvSpPr/>
          <p:nvPr/>
        </p:nvSpPr>
        <p:spPr>
          <a:xfrm>
            <a:off x="10002253" y="2279551"/>
            <a:ext cx="2189442" cy="3566815"/>
          </a:xfrm>
          <a:prstGeom prst="rect">
            <a:avLst/>
          </a:prstGeom>
          <a:solidFill>
            <a:srgbClr val="F6C945"/>
          </a:solidFill>
          <a:ln/>
        </p:spPr>
      </p:sp>
      <p:sp>
        <p:nvSpPr>
          <p:cNvPr id="10" name="Text 5"/>
          <p:cNvSpPr/>
          <p:nvPr/>
        </p:nvSpPr>
        <p:spPr>
          <a:xfrm>
            <a:off x="10119067" y="2441317"/>
            <a:ext cx="1920232" cy="496491"/>
          </a:xfrm>
          <a:prstGeom prst="rect">
            <a:avLst/>
          </a:prstGeom>
          <a:noFill/>
          <a:ln/>
        </p:spPr>
        <p:txBody>
          <a:bodyPr wrap="square" lIns="0" tIns="0" rIns="0" bIns="0" rtlCol="0" anchor="t">
            <a:normAutofit/>
          </a:bodyPr>
          <a:lstStyle/>
          <a:p>
            <a:pPr marL="0" indent="0" algn="l">
              <a:lnSpc>
                <a:spcPct val="96000"/>
              </a:lnSpc>
              <a:buNone/>
            </a:pPr>
            <a:r>
              <a:rPr lang="en-US" sz="1700" b="1" dirty="0">
                <a:solidFill>
                  <a:srgbClr val="000000"/>
                </a:solidFill>
                <a:latin typeface="Atkinson Hyperlegible Bold" pitchFamily="34" charset="0"/>
                <a:ea typeface="Atkinson Hyperlegible Bold" pitchFamily="34" charset="-122"/>
                <a:cs typeface="Atkinson Hyperlegible Bold" pitchFamily="34" charset="-120"/>
              </a:rPr>
              <a:t>Simulation evidence</a:t>
            </a:r>
            <a:endParaRPr lang="en-US" sz="1700" dirty="0"/>
          </a:p>
        </p:txBody>
      </p:sp>
      <p:sp>
        <p:nvSpPr>
          <p:cNvPr id="5" name="Text 6"/>
          <p:cNvSpPr/>
          <p:nvPr/>
        </p:nvSpPr>
        <p:spPr>
          <a:xfrm>
            <a:off x="10119067" y="3071316"/>
            <a:ext cx="1920232" cy="2622649"/>
          </a:xfrm>
          <a:prstGeom prst="rect">
            <a:avLst/>
          </a:prstGeom>
          <a:noFill/>
          <a:ln/>
        </p:spPr>
        <p:txBody>
          <a:bodyPr wrap="square" lIns="0" tIns="0" rIns="0" bIns="0" rtlCol="0" anchor="t">
            <a:normAutofit/>
          </a:bodyPr>
          <a:lstStyle/>
          <a:p>
            <a:pPr marL="0" indent="0" algn="l">
              <a:lnSpc>
                <a:spcPct val="112000"/>
              </a:lnSpc>
              <a:buNone/>
            </a:pPr>
            <a:r>
              <a:rPr lang="en-US" sz="1700" dirty="0">
                <a:solidFill>
                  <a:srgbClr val="000000"/>
                </a:solidFill>
                <a:latin typeface="Atkinson Hyperlegible" pitchFamily="34" charset="0"/>
                <a:ea typeface="Atkinson Hyperlegible" pitchFamily="34" charset="-122"/>
                <a:cs typeface="Atkinson Hyperlegible" pitchFamily="34" charset="-120"/>
              </a:rPr>
              <a:t>Check representative switch settings against the matching truth-table rows. The highlighted P = 1 cases are the odd-input cases.</a:t>
            </a:r>
            <a:endParaRPr lang="en-US" sz="1700" dirty="0"/>
          </a:p>
        </p:txBody>
      </p:sp>
      <p:pic>
        <p:nvPicPr>
          <p:cNvPr id="13" name="Picture 12">
            <a:extLst>
              <a:ext uri="{FF2B5EF4-FFF2-40B4-BE49-F238E27FC236}">
                <a16:creationId xmlns:a16="http://schemas.microsoft.com/office/drawing/2014/main" id="{0B367526-B28C-CF1C-3B99-7D77B5941E06}"/>
              </a:ext>
            </a:extLst>
          </p:cNvPr>
          <p:cNvPicPr>
            <a:picLocks noChangeAspect="1"/>
          </p:cNvPicPr>
          <p:nvPr/>
        </p:nvPicPr>
        <p:blipFill>
          <a:blip r:embed="rId3"/>
          <a:stretch>
            <a:fillRect/>
          </a:stretch>
        </p:blipFill>
        <p:spPr>
          <a:xfrm>
            <a:off x="4836700" y="2081057"/>
            <a:ext cx="5013157" cy="389304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189" y="462396"/>
            <a:ext cx="3505112" cy="190500"/>
          </a:xfrm>
          <a:prstGeom prst="rect">
            <a:avLst/>
          </a:prstGeom>
          <a:noFill/>
          <a:ln/>
        </p:spPr>
        <p:txBody>
          <a:bodyPr wrap="none" lIns="0" tIns="0" rIns="0" bIns="0" rtlCol="0" anchor="t"/>
          <a:lstStyle/>
          <a:p>
            <a:pPr marL="0" indent="0" algn="l">
              <a:lnSpc>
                <a:spcPct val="100000"/>
              </a:lnSpc>
              <a:buNone/>
            </a:pPr>
            <a:r>
              <a:rPr lang="en-US" sz="1250" kern="100" spc="100" dirty="0">
                <a:solidFill>
                  <a:srgbClr val="22282A"/>
                </a:solidFill>
                <a:latin typeface="IBM Plex Mono SemiBold" pitchFamily="34" charset="0"/>
                <a:ea typeface="IBM Plex Mono SemiBold" pitchFamily="34" charset="-122"/>
                <a:cs typeface="IBM Plex Mono SemiBold" pitchFamily="34" charset="-120"/>
              </a:rPr>
              <a:t>05 · RESULT AND NEXT USE</a:t>
            </a:r>
            <a:endParaRPr lang="en-US" sz="1250" dirty="0"/>
          </a:p>
        </p:txBody>
      </p:sp>
      <p:sp>
        <p:nvSpPr>
          <p:cNvPr id="3" name="Text 1"/>
          <p:cNvSpPr/>
          <p:nvPr/>
        </p:nvSpPr>
        <p:spPr>
          <a:xfrm>
            <a:off x="457189" y="746477"/>
            <a:ext cx="3047924" cy="1320800"/>
          </a:xfrm>
          <a:prstGeom prst="rect">
            <a:avLst/>
          </a:prstGeom>
          <a:noFill/>
          <a:ln/>
        </p:spPr>
        <p:txBody>
          <a:bodyPr wrap="square" lIns="0" tIns="0" rIns="0" bIns="0" rtlCol="0" anchor="t">
            <a:normAutofit/>
          </a:bodyPr>
          <a:lstStyle/>
          <a:p>
            <a:pPr marL="0" indent="0" algn="l">
              <a:lnSpc>
                <a:spcPct val="83000"/>
              </a:lnSpc>
              <a:buNone/>
            </a:pPr>
            <a:r>
              <a:rPr lang="en-US" sz="2600" b="1" kern="100" spc="-26" dirty="0">
                <a:solidFill>
                  <a:srgbClr val="22282A"/>
                </a:solidFill>
                <a:latin typeface="Archivo Bold" pitchFamily="34" charset="0"/>
                <a:ea typeface="Archivo Bold" pitchFamily="34" charset="-122"/>
                <a:cs typeface="Archivo Bold" pitchFamily="34" charset="-120"/>
              </a:rPr>
              <a:t>THE CIRCUIT IS COMPACT, TESTABLE, AND REUSABLE</a:t>
            </a:r>
            <a:endParaRPr lang="en-US" sz="2600" dirty="0"/>
          </a:p>
        </p:txBody>
      </p:sp>
      <p:sp>
        <p:nvSpPr>
          <p:cNvPr id="4" name="Text 2"/>
          <p:cNvSpPr/>
          <p:nvPr/>
        </p:nvSpPr>
        <p:spPr>
          <a:xfrm>
            <a:off x="457189" y="2244725"/>
            <a:ext cx="3047924" cy="1371600"/>
          </a:xfrm>
          <a:prstGeom prst="rect">
            <a:avLst/>
          </a:prstGeom>
          <a:noFill/>
          <a:ln/>
        </p:spPr>
        <p:txBody>
          <a:bodyPr wrap="square" lIns="0" tIns="0" rIns="0" bIns="0" rtlCol="0" anchor="t">
            <a:normAutofit/>
          </a:bodyPr>
          <a:lstStyle/>
          <a:p>
            <a:pPr marL="0" indent="0" algn="l">
              <a:lnSpc>
                <a:spcPct val="112000"/>
              </a:lnSpc>
              <a:buNone/>
            </a:pPr>
            <a:r>
              <a:rPr lang="en-US" sz="2000" dirty="0">
                <a:solidFill>
                  <a:srgbClr val="22282A"/>
                </a:solidFill>
                <a:latin typeface="Atkinson Hyperlegible" pitchFamily="34" charset="0"/>
                <a:ea typeface="Atkinson Hyperlegible" pitchFamily="34" charset="-122"/>
                <a:cs typeface="Atkinson Hyperlegible" pitchFamily="34" charset="-120"/>
              </a:rPr>
              <a:t>XOR gates provide a simple combinational solution for parity generation.</a:t>
            </a:r>
            <a:endParaRPr lang="en-US" sz="2000" dirty="0"/>
          </a:p>
        </p:txBody>
      </p:sp>
      <p:sp>
        <p:nvSpPr>
          <p:cNvPr id="5" name="Shape 3"/>
          <p:cNvSpPr/>
          <p:nvPr/>
        </p:nvSpPr>
        <p:spPr>
          <a:xfrm>
            <a:off x="457189" y="4564658"/>
            <a:ext cx="3047924" cy="1836142"/>
          </a:xfrm>
          <a:prstGeom prst="rect">
            <a:avLst/>
          </a:prstGeom>
          <a:solidFill>
            <a:srgbClr val="F6C945"/>
          </a:solidFill>
          <a:ln/>
        </p:spPr>
      </p:sp>
      <p:sp>
        <p:nvSpPr>
          <p:cNvPr id="6" name="Text 4"/>
          <p:cNvSpPr/>
          <p:nvPr/>
        </p:nvSpPr>
        <p:spPr>
          <a:xfrm>
            <a:off x="711182" y="4713724"/>
            <a:ext cx="2539936" cy="248245"/>
          </a:xfrm>
          <a:prstGeom prst="rect">
            <a:avLst/>
          </a:prstGeom>
          <a:noFill/>
          <a:ln/>
        </p:spPr>
        <p:txBody>
          <a:bodyPr wrap="none" lIns="0" tIns="0" rIns="0" bIns="0" rtlCol="0" anchor="t"/>
          <a:lstStyle/>
          <a:p>
            <a:pPr marL="0" indent="0" algn="l">
              <a:lnSpc>
                <a:spcPct val="96000"/>
              </a:lnSpc>
              <a:buNone/>
            </a:pPr>
            <a:r>
              <a:rPr lang="en-US" sz="1700" b="1" dirty="0">
                <a:solidFill>
                  <a:srgbClr val="000000"/>
                </a:solidFill>
                <a:latin typeface="Atkinson Hyperlegible Bold" pitchFamily="34" charset="0"/>
                <a:ea typeface="Atkinson Hyperlegible Bold" pitchFamily="34" charset="-122"/>
                <a:cs typeface="Atkinson Hyperlegible Bold" pitchFamily="34" charset="-120"/>
              </a:rPr>
              <a:t>Key takeaway</a:t>
            </a:r>
            <a:endParaRPr lang="en-US" sz="1700" dirty="0"/>
          </a:p>
        </p:txBody>
      </p:sp>
      <p:sp>
        <p:nvSpPr>
          <p:cNvPr id="7" name="Text 5"/>
          <p:cNvSpPr/>
          <p:nvPr/>
        </p:nvSpPr>
        <p:spPr>
          <a:xfrm>
            <a:off x="711182" y="5095478"/>
            <a:ext cx="2539936" cy="1165622"/>
          </a:xfrm>
          <a:prstGeom prst="rect">
            <a:avLst/>
          </a:prstGeom>
          <a:noFill/>
          <a:ln/>
        </p:spPr>
        <p:txBody>
          <a:bodyPr wrap="square" lIns="0" tIns="0" rIns="0" bIns="0" rtlCol="0" anchor="t">
            <a:normAutofit/>
          </a:bodyPr>
          <a:lstStyle/>
          <a:p>
            <a:pPr marL="0" indent="0" algn="l">
              <a:lnSpc>
                <a:spcPct val="112000"/>
              </a:lnSpc>
              <a:buNone/>
            </a:pPr>
            <a:r>
              <a:rPr lang="en-US" sz="1700" dirty="0">
                <a:solidFill>
                  <a:srgbClr val="000000"/>
                </a:solidFill>
                <a:latin typeface="Atkinson Hyperlegible" pitchFamily="34" charset="0"/>
                <a:ea typeface="Atkinson Hyperlegible" pitchFamily="34" charset="-122"/>
                <a:cs typeface="Atkinson Hyperlegible" pitchFamily="34" charset="-120"/>
              </a:rPr>
              <a:t>The XOR network generates the correct even parity bit for every tested combination.</a:t>
            </a:r>
            <a:endParaRPr lang="en-US" sz="1700" dirty="0"/>
          </a:p>
        </p:txBody>
      </p:sp>
      <p:sp>
        <p:nvSpPr>
          <p:cNvPr id="8" name="Shape 6"/>
          <p:cNvSpPr/>
          <p:nvPr/>
        </p:nvSpPr>
        <p:spPr>
          <a:xfrm>
            <a:off x="4724282" y="457200"/>
            <a:ext cx="647684" cy="647700"/>
          </a:xfrm>
          <a:prstGeom prst="ellipse">
            <a:avLst/>
          </a:prstGeom>
          <a:solidFill>
            <a:srgbClr val="1E6FB8"/>
          </a:solidFill>
          <a:ln/>
        </p:spPr>
      </p:sp>
      <p:pic>
        <p:nvPicPr>
          <p:cNvPr id="9" name="Image 0" descr="preencoded.png"/>
          <p:cNvPicPr>
            <a:picLocks noChangeAspect="1"/>
          </p:cNvPicPr>
          <p:nvPr/>
        </p:nvPicPr>
        <p:blipFill>
          <a:blip r:embed="rId3"/>
          <a:stretch>
            <a:fillRect/>
          </a:stretch>
        </p:blipFill>
        <p:spPr>
          <a:xfrm>
            <a:off x="4886203" y="619125"/>
            <a:ext cx="323842" cy="323850"/>
          </a:xfrm>
          <a:prstGeom prst="rect">
            <a:avLst/>
          </a:prstGeom>
        </p:spPr>
      </p:pic>
      <p:sp>
        <p:nvSpPr>
          <p:cNvPr id="10" name="Text 7"/>
          <p:cNvSpPr/>
          <p:nvPr/>
        </p:nvSpPr>
        <p:spPr>
          <a:xfrm>
            <a:off x="4724282" y="1290637"/>
            <a:ext cx="2895528" cy="292100"/>
          </a:xfrm>
          <a:prstGeom prst="rect">
            <a:avLst/>
          </a:prstGeom>
          <a:noFill/>
          <a:ln/>
        </p:spPr>
        <p:txBody>
          <a:bodyPr wrap="none" lIns="0" tIns="0" rIns="0" bIns="0" rtlCol="0" anchor="t"/>
          <a:lstStyle/>
          <a:p>
            <a:pPr marL="0" indent="0" algn="l">
              <a:lnSpc>
                <a:spcPct val="96000"/>
              </a:lnSpc>
              <a:buNone/>
            </a:pPr>
            <a:r>
              <a:rPr lang="en-US" sz="2000" b="1" dirty="0">
                <a:solidFill>
                  <a:srgbClr val="22282A"/>
                </a:solidFill>
                <a:latin typeface="Atkinson Hyperlegible Bold" pitchFamily="34" charset="0"/>
                <a:ea typeface="Atkinson Hyperlegible Bold" pitchFamily="34" charset="-122"/>
                <a:cs typeface="Atkinson Hyperlegible Bold" pitchFamily="34" charset="-120"/>
              </a:rPr>
              <a:t>Applications</a:t>
            </a:r>
            <a:endParaRPr lang="en-US" sz="2000" dirty="0"/>
          </a:p>
        </p:txBody>
      </p:sp>
      <p:sp>
        <p:nvSpPr>
          <p:cNvPr id="11" name="Text 8"/>
          <p:cNvSpPr/>
          <p:nvPr/>
        </p:nvSpPr>
        <p:spPr>
          <a:xfrm>
            <a:off x="4724282" y="1717675"/>
            <a:ext cx="2895528" cy="1165622"/>
          </a:xfrm>
          <a:prstGeom prst="rect">
            <a:avLst/>
          </a:prstGeom>
          <a:noFill/>
          <a:ln/>
        </p:spPr>
        <p:txBody>
          <a:bodyPr wrap="square" lIns="0" tIns="0" rIns="0" bIns="0" rtlCol="0" anchor="t">
            <a:normAutofit/>
          </a:bodyPr>
          <a:lstStyle/>
          <a:p>
            <a:pPr marL="0" indent="0" algn="l">
              <a:lnSpc>
                <a:spcPct val="112000"/>
              </a:lnSpc>
              <a:buNone/>
            </a:pPr>
            <a:r>
              <a:rPr lang="en-US" sz="1700" dirty="0">
                <a:solidFill>
                  <a:srgbClr val="22282A"/>
                </a:solidFill>
                <a:latin typeface="Atkinson Hyperlegible" pitchFamily="34" charset="0"/>
                <a:ea typeface="Atkinson Hyperlegible" pitchFamily="34" charset="-122"/>
                <a:cs typeface="Atkinson Hyperlegible" pitchFamily="34" charset="-120"/>
              </a:rPr>
              <a:t>Error detection in digital communication, memory systems, data buses, and serial links.</a:t>
            </a:r>
            <a:endParaRPr lang="en-US" sz="1700" dirty="0"/>
          </a:p>
        </p:txBody>
      </p:sp>
      <p:sp>
        <p:nvSpPr>
          <p:cNvPr id="12" name="Shape 9"/>
          <p:cNvSpPr/>
          <p:nvPr/>
        </p:nvSpPr>
        <p:spPr>
          <a:xfrm>
            <a:off x="8838979" y="457200"/>
            <a:ext cx="647684" cy="647700"/>
          </a:xfrm>
          <a:prstGeom prst="ellipse">
            <a:avLst/>
          </a:prstGeom>
          <a:solidFill>
            <a:srgbClr val="1E6FB8"/>
          </a:solidFill>
          <a:ln/>
        </p:spPr>
      </p:sp>
      <p:pic>
        <p:nvPicPr>
          <p:cNvPr id="13" name="Image 1" descr="preencoded.png"/>
          <p:cNvPicPr>
            <a:picLocks noChangeAspect="1"/>
          </p:cNvPicPr>
          <p:nvPr/>
        </p:nvPicPr>
        <p:blipFill>
          <a:blip r:embed="rId4"/>
          <a:stretch>
            <a:fillRect/>
          </a:stretch>
        </p:blipFill>
        <p:spPr>
          <a:xfrm>
            <a:off x="9000900" y="619125"/>
            <a:ext cx="323842" cy="323850"/>
          </a:xfrm>
          <a:prstGeom prst="rect">
            <a:avLst/>
          </a:prstGeom>
        </p:spPr>
      </p:pic>
      <p:sp>
        <p:nvSpPr>
          <p:cNvPr id="14" name="Text 10"/>
          <p:cNvSpPr/>
          <p:nvPr/>
        </p:nvSpPr>
        <p:spPr>
          <a:xfrm>
            <a:off x="8838979" y="1290637"/>
            <a:ext cx="2895528" cy="292100"/>
          </a:xfrm>
          <a:prstGeom prst="rect">
            <a:avLst/>
          </a:prstGeom>
          <a:noFill/>
          <a:ln/>
        </p:spPr>
        <p:txBody>
          <a:bodyPr wrap="none" lIns="0" tIns="0" rIns="0" bIns="0" rtlCol="0" anchor="t"/>
          <a:lstStyle/>
          <a:p>
            <a:pPr marL="0" indent="0" algn="l">
              <a:lnSpc>
                <a:spcPct val="96000"/>
              </a:lnSpc>
              <a:buNone/>
            </a:pPr>
            <a:r>
              <a:rPr lang="en-US" sz="2000" b="1" dirty="0">
                <a:solidFill>
                  <a:srgbClr val="22282A"/>
                </a:solidFill>
                <a:latin typeface="Atkinson Hyperlegible Bold" pitchFamily="34" charset="0"/>
                <a:ea typeface="Atkinson Hyperlegible Bold" pitchFamily="34" charset="-122"/>
                <a:cs typeface="Atkinson Hyperlegible Bold" pitchFamily="34" charset="-120"/>
              </a:rPr>
              <a:t>Next improvement</a:t>
            </a:r>
            <a:endParaRPr lang="en-US" sz="2000" dirty="0"/>
          </a:p>
        </p:txBody>
      </p:sp>
      <p:sp>
        <p:nvSpPr>
          <p:cNvPr id="15" name="Text 11"/>
          <p:cNvSpPr/>
          <p:nvPr/>
        </p:nvSpPr>
        <p:spPr>
          <a:xfrm>
            <a:off x="8838979" y="1717675"/>
            <a:ext cx="2895528" cy="874216"/>
          </a:xfrm>
          <a:prstGeom prst="rect">
            <a:avLst/>
          </a:prstGeom>
          <a:noFill/>
          <a:ln/>
        </p:spPr>
        <p:txBody>
          <a:bodyPr wrap="square" lIns="0" tIns="0" rIns="0" bIns="0" rtlCol="0" anchor="t">
            <a:normAutofit/>
          </a:bodyPr>
          <a:lstStyle/>
          <a:p>
            <a:pPr marL="0" indent="0" algn="l">
              <a:lnSpc>
                <a:spcPct val="112000"/>
              </a:lnSpc>
              <a:buNone/>
            </a:pPr>
            <a:r>
              <a:rPr lang="en-US" sz="1700" dirty="0">
                <a:solidFill>
                  <a:srgbClr val="22282A"/>
                </a:solidFill>
                <a:latin typeface="Atkinson Hyperlegible" pitchFamily="34" charset="0"/>
                <a:ea typeface="Atkinson Hyperlegible" pitchFamily="34" charset="-122"/>
                <a:cs typeface="Atkinson Hyperlegible" pitchFamily="34" charset="-120"/>
              </a:rPr>
              <a:t>Add an even-parity checker so the received word can be validated directly.</a:t>
            </a:r>
            <a:endParaRPr lang="en-US" sz="1700" dirty="0"/>
          </a:p>
        </p:txBody>
      </p:sp>
      <p:sp>
        <p:nvSpPr>
          <p:cNvPr id="16" name="Text 12"/>
          <p:cNvSpPr/>
          <p:nvPr/>
        </p:nvSpPr>
        <p:spPr>
          <a:xfrm>
            <a:off x="8838979" y="2936379"/>
            <a:ext cx="2895528" cy="292100"/>
          </a:xfrm>
          <a:prstGeom prst="rect">
            <a:avLst/>
          </a:prstGeom>
          <a:noFill/>
          <a:ln/>
        </p:spPr>
        <p:txBody>
          <a:bodyPr wrap="none" lIns="0" tIns="0" rIns="0" bIns="0" rtlCol="0" anchor="t"/>
          <a:lstStyle/>
          <a:p>
            <a:pPr marL="0" indent="0" algn="l">
              <a:lnSpc>
                <a:spcPct val="96000"/>
              </a:lnSpc>
              <a:buNone/>
            </a:pPr>
            <a:r>
              <a:rPr lang="en-US" sz="2000" b="1" dirty="0">
                <a:solidFill>
                  <a:srgbClr val="22282A"/>
                </a:solidFill>
                <a:latin typeface="Atkinson Hyperlegible Bold" pitchFamily="34" charset="0"/>
                <a:ea typeface="Atkinson Hyperlegible Bold" pitchFamily="34" charset="-122"/>
                <a:cs typeface="Atkinson Hyperlegible Bold" pitchFamily="34" charset="-120"/>
              </a:rPr>
              <a:t>Scale it</a:t>
            </a:r>
            <a:endParaRPr lang="en-US" sz="2000" dirty="0"/>
          </a:p>
        </p:txBody>
      </p:sp>
      <p:sp>
        <p:nvSpPr>
          <p:cNvPr id="17" name="Text 13"/>
          <p:cNvSpPr/>
          <p:nvPr/>
        </p:nvSpPr>
        <p:spPr>
          <a:xfrm>
            <a:off x="8838979" y="3363416"/>
            <a:ext cx="2895528" cy="874216"/>
          </a:xfrm>
          <a:prstGeom prst="rect">
            <a:avLst/>
          </a:prstGeom>
          <a:noFill/>
          <a:ln/>
        </p:spPr>
        <p:txBody>
          <a:bodyPr wrap="square" lIns="0" tIns="0" rIns="0" bIns="0" rtlCol="0" anchor="t">
            <a:normAutofit/>
          </a:bodyPr>
          <a:lstStyle/>
          <a:p>
            <a:pPr marL="0" indent="0" algn="l">
              <a:lnSpc>
                <a:spcPct val="112000"/>
              </a:lnSpc>
              <a:buNone/>
            </a:pPr>
            <a:r>
              <a:rPr lang="en-US" sz="1700" dirty="0">
                <a:solidFill>
                  <a:srgbClr val="22282A"/>
                </a:solidFill>
                <a:latin typeface="Atkinson Hyperlegible" pitchFamily="34" charset="0"/>
                <a:ea typeface="Atkinson Hyperlegible" pitchFamily="34" charset="-122"/>
                <a:cs typeface="Atkinson Hyperlegible" pitchFamily="34" charset="-120"/>
              </a:rPr>
              <a:t>Support wider data words and automate test cases in Logisim.</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777</Words>
  <Application>Microsoft Office PowerPoint</Application>
  <PresentationFormat>Widescreen</PresentationFormat>
  <Paragraphs>162</Paragraphs>
  <Slides>6</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Arial</vt:lpstr>
      <vt:lpstr>Archivo Black</vt:lpstr>
      <vt:lpstr>Atkinson Hyperlegible Bold</vt:lpstr>
      <vt:lpstr>IBM Plex Mono SemiBold</vt:lpstr>
      <vt:lpstr>Archivo Bold</vt:lpstr>
      <vt:lpstr>Atkinson Hyperlegible</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Sahasra</dc:creator>
  <cp:lastModifiedBy>sahasradhanalakoti58@outlook.com</cp:lastModifiedBy>
  <cp:revision>2</cp:revision>
  <dcterms:created xsi:type="dcterms:W3CDTF">2026-10-15T03:13:55Z</dcterms:created>
  <dcterms:modified xsi:type="dcterms:W3CDTF">2026-10-15T03:46:47Z</dcterms:modified>
</cp:coreProperties>
</file>